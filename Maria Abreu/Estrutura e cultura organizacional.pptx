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7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987CB-B4B3-99A6-75A8-FD62A0448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65" y="2742465"/>
            <a:ext cx="8510691" cy="1373070"/>
          </a:xfrm>
        </p:spPr>
        <p:txBody>
          <a:bodyPr/>
          <a:lstStyle/>
          <a:p>
            <a:r>
              <a:rPr lang="pt-BR" dirty="0"/>
              <a:t>Estrutura e Cultura Organizacional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B4E346-706B-7A87-FFA8-A0E402B5C9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latin typeface="+mj-lt"/>
              </a:rPr>
              <a:t>Julio Filho</a:t>
            </a:r>
          </a:p>
          <a:p>
            <a:r>
              <a:rPr lang="fr-FR" dirty="0">
                <a:latin typeface="+mj-lt"/>
              </a:rPr>
              <a:t>Tomás Carvalho </a:t>
            </a:r>
          </a:p>
          <a:p>
            <a:r>
              <a:rPr lang="fr-FR" dirty="0">
                <a:latin typeface="+mj-lt"/>
              </a:rPr>
              <a:t>T3 TEARCI</a:t>
            </a:r>
            <a:endParaRPr lang="pt-B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0448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1B204-3DEF-9C21-3B37-931D843B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Principais tipos de Estrutura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2ABFA4-1FEE-BDC5-32A4-EE226AC9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56" y="2171171"/>
            <a:ext cx="3789736" cy="26266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4C6F649-2764-6B68-FD94-E075FF35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455" y="2183672"/>
            <a:ext cx="3789736" cy="37082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4A64226-9B7B-794E-4E41-C8F2C78BEEFD}"/>
              </a:ext>
            </a:extLst>
          </p:cNvPr>
          <p:cNvSpPr txBox="1"/>
          <p:nvPr/>
        </p:nvSpPr>
        <p:spPr>
          <a:xfrm>
            <a:off x="5637496" y="2773388"/>
            <a:ext cx="301048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b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Prós</a:t>
            </a:r>
            <a:endParaRPr lang="fr-F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Flexibilidade Agilidade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Melhor Uso de Recursos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Colaboraçao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Interdepartamental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Foco no cliente/projeto</a:t>
            </a:r>
          </a:p>
          <a:p>
            <a:endParaRPr lang="fr-FR" sz="1600" b="1" dirty="0"/>
          </a:p>
          <a:p>
            <a:r>
              <a:rPr lang="fr-FR" sz="1600" b="1" dirty="0"/>
              <a:t>Contras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Conflito de Autoridade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Aumento da Burocracia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Sobrecarga de Lideres e Equipes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Difuldade de implementaçao</a:t>
            </a:r>
            <a:endParaRPr lang="pt-BR" sz="1600" dirty="0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87249118-6399-232A-D321-24A295320B84}"/>
              </a:ext>
            </a:extLst>
          </p:cNvPr>
          <p:cNvSpPr/>
          <p:nvPr/>
        </p:nvSpPr>
        <p:spPr>
          <a:xfrm>
            <a:off x="6760200" y="2171171"/>
            <a:ext cx="1525255" cy="932512"/>
          </a:xfrm>
          <a:prstGeom prst="rightArrow">
            <a:avLst>
              <a:gd name="adj1" fmla="val 6849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prstClr val="white"/>
                </a:solidFill>
              </a:rPr>
              <a:t>Matricial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AAB45A3-DB48-C875-36BE-C4761BF16BDC}"/>
              </a:ext>
            </a:extLst>
          </p:cNvPr>
          <p:cNvSpPr/>
          <p:nvPr/>
        </p:nvSpPr>
        <p:spPr>
          <a:xfrm>
            <a:off x="9168664" y="5891959"/>
            <a:ext cx="2251036" cy="58257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Recomendável na Automação</a:t>
            </a:r>
            <a:endParaRPr lang="pt-BR" sz="1600" dirty="0"/>
          </a:p>
        </p:txBody>
      </p:sp>
      <p:sp>
        <p:nvSpPr>
          <p:cNvPr id="12" name="Estrela: 5 Pontas 11">
            <a:extLst>
              <a:ext uri="{FF2B5EF4-FFF2-40B4-BE49-F238E27FC236}">
                <a16:creationId xmlns:a16="http://schemas.microsoft.com/office/drawing/2014/main" id="{32EB0E30-F2B8-EEDE-ABF1-A14D66D24364}"/>
              </a:ext>
            </a:extLst>
          </p:cNvPr>
          <p:cNvSpPr/>
          <p:nvPr/>
        </p:nvSpPr>
        <p:spPr>
          <a:xfrm rot="18763697">
            <a:off x="10971872" y="5725980"/>
            <a:ext cx="914401" cy="914532"/>
          </a:xfrm>
          <a:prstGeom prst="star5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C4D906-7AB7-00F7-45EC-A1D1E9DD2489}"/>
              </a:ext>
            </a:extLst>
          </p:cNvPr>
          <p:cNvSpPr txBox="1"/>
          <p:nvPr/>
        </p:nvSpPr>
        <p:spPr>
          <a:xfrm>
            <a:off x="295274" y="4898147"/>
            <a:ext cx="5234417" cy="230832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fr-FR" sz="1600" dirty="0"/>
              <a:t>     </a:t>
            </a:r>
            <a:r>
              <a:rPr lang="fr-FR" sz="1600" b="1" dirty="0"/>
              <a:t>Prós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Especializaçao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Hierarquia </a:t>
            </a:r>
            <a:br>
              <a:rPr lang="fr-FR" sz="1600" dirty="0"/>
            </a:br>
            <a:r>
              <a:rPr lang="fr-FR" sz="1600" dirty="0"/>
              <a:t>clara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Economia de escala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Crescimento profissional</a:t>
            </a:r>
            <a:br>
              <a:rPr lang="fr-FR" sz="1600" dirty="0"/>
            </a:br>
            <a:br>
              <a:rPr lang="fr-FR" sz="1600" dirty="0"/>
            </a:br>
            <a:br>
              <a:rPr lang="fr-FR" sz="1600" dirty="0"/>
            </a:br>
            <a:r>
              <a:rPr lang="fr-FR" sz="1600" b="1" dirty="0"/>
              <a:t>Contras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Visao de tunel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Comunicacao lenta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Dificuldade de adaptacao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Foco no processo nao no resultado</a:t>
            </a:r>
          </a:p>
          <a:p>
            <a:endParaRPr lang="pt-BR" dirty="0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CB2882B9-D78E-6E61-54B4-005E63FC0CC9}"/>
              </a:ext>
            </a:extLst>
          </p:cNvPr>
          <p:cNvSpPr/>
          <p:nvPr/>
        </p:nvSpPr>
        <p:spPr>
          <a:xfrm>
            <a:off x="62638" y="3018243"/>
            <a:ext cx="1623415" cy="932512"/>
          </a:xfrm>
          <a:prstGeom prst="rightArrow">
            <a:avLst>
              <a:gd name="adj1" fmla="val 6849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prstClr val="white"/>
                </a:solidFill>
              </a:rPr>
              <a:t>Funcional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8149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0878B-2F69-F3B0-12BE-675B4868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Estrutura na Automação 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A64C6DA-EC59-AEE0-068B-C1898B0B4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9" y="2643699"/>
            <a:ext cx="9878804" cy="28464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0C717D0-5712-ABFB-E929-E31506BBD055}"/>
              </a:ext>
            </a:extLst>
          </p:cNvPr>
          <p:cNvSpPr txBox="1"/>
          <p:nvPr/>
        </p:nvSpPr>
        <p:spPr>
          <a:xfrm>
            <a:off x="188409" y="2121502"/>
            <a:ext cx="490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3401- Coral Springs, FL – Organizational Chart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F5FB0E-0C8C-3DC6-9A76-D3817FC0D1F3}"/>
              </a:ext>
            </a:extLst>
          </p:cNvPr>
          <p:cNvSpPr txBox="1"/>
          <p:nvPr/>
        </p:nvSpPr>
        <p:spPr>
          <a:xfrm>
            <a:off x="762000" y="57354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Pode se ver uma aplicação prática aonde um gestor de projetos reune várias pessoas para unificar em um único projeto não havendo separação por função.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122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904CE-745D-8219-89C7-B0AF3EA1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Cultura Organizacional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5C7375-D482-004C-D72E-BA97D2A0885A}"/>
              </a:ext>
            </a:extLst>
          </p:cNvPr>
          <p:cNvSpPr txBox="1"/>
          <p:nvPr/>
        </p:nvSpPr>
        <p:spPr>
          <a:xfrm>
            <a:off x="7319250" y="2228671"/>
            <a:ext cx="3953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Na automação geralmente um misto entre ADHOCRACIA e HIERARQUIA acaba prevalecendo devido aos principios relativos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D579251-BA74-74D4-8421-47B17D25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82" y="1909300"/>
            <a:ext cx="6696635" cy="49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7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97BD1-04BD-D11B-2BE1-033FD768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Conclusão e Recomendações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AC4ACD-D59B-B080-68DD-8EECED96D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sz="2000" b="1" dirty="0"/>
              <a:t>Síntese:</a:t>
            </a:r>
            <a:endParaRPr lang="pt-PT" sz="1800" b="1" dirty="0"/>
          </a:p>
          <a:p>
            <a:pPr marL="0" indent="0">
              <a:buNone/>
            </a:pPr>
            <a:r>
              <a:rPr lang="pt-PT" sz="1800" dirty="0"/>
              <a:t>Estrutura matricial + cultura híbrida funcionam bem quando há papéis claros, boa comunicação e confiança nas equipas, permitindo maior flexibilidade, melhor utilização de recursos e adaptação rápida às exigências operacionais.</a:t>
            </a:r>
          </a:p>
          <a:p>
            <a:pPr marL="0" indent="0">
              <a:buNone/>
            </a:pPr>
            <a:r>
              <a:rPr lang="pt-PT" sz="2000" b="1" dirty="0"/>
              <a:t>Ligação à UC:</a:t>
            </a:r>
            <a:endParaRPr lang="pt-PT" sz="1800" dirty="0"/>
          </a:p>
          <a:p>
            <a:pPr marL="0" indent="0">
              <a:buNone/>
            </a:pPr>
            <a:r>
              <a:rPr lang="pt-PT" sz="1800" dirty="0"/>
              <a:t>Na Automação, Robótica e Controlo Industrial, coordenar é alinhar pessoas, sistemas e processos para garantir eficiência e fiabilidade, assegurando integração entre diferentes tecnologias e resposta rápida a falhas ou mudanças no sistema.</a:t>
            </a:r>
          </a:p>
        </p:txBody>
      </p:sp>
    </p:spTree>
    <p:extLst>
      <p:ext uri="{BB962C8B-B14F-4D97-AF65-F5344CB8AC3E}">
        <p14:creationId xmlns:p14="http://schemas.microsoft.com/office/powerpoint/2010/main" val="42377526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m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{F342AAE1-0375-44A1-B1D4-4ABA5392BBD7}TF6e1c0bd6-43b7-4cba-aa12-42a644606054fed82f65-afd714271336</Template>
  <TotalTime>241</TotalTime>
  <Words>213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Berlim</vt:lpstr>
      <vt:lpstr>Estrutura e Cultura Organizacional </vt:lpstr>
      <vt:lpstr>Principais tipos de Estrutura</vt:lpstr>
      <vt:lpstr>Estrutura na Automação </vt:lpstr>
      <vt:lpstr>Cultura Organizacional</vt:lpstr>
      <vt:lpstr>Conclusão e Recomendações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Foda</dc:creator>
  <cp:lastModifiedBy>Carvalhinho</cp:lastModifiedBy>
  <cp:revision>5</cp:revision>
  <dcterms:created xsi:type="dcterms:W3CDTF">2026-03-27T14:49:27Z</dcterms:created>
  <dcterms:modified xsi:type="dcterms:W3CDTF">2026-04-20T15:37:52Z</dcterms:modified>
</cp:coreProperties>
</file>