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Roboto" panose="02000000000000000000" pitchFamily="2" charset="0"/>
      <p:regular r:id="rId10"/>
      <p:bold r:id="rId11"/>
    </p:embeddedFont>
    <p:embeddedFont>
      <p:font typeface="Roboto Medium" panose="02000000000000000000" pitchFamily="2" charset="0"/>
      <p:regular r:id="rId12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9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0997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Julio FilhoTomas Carvalho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31294"/>
            <a:ext cx="7556421" cy="1700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Custos de Manutenção: Entender para Controlar e Otimizar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280190" y="477238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Julio Filho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Tomas Carvalho</a:t>
            </a:r>
            <a:endParaRPr lang="en-US" sz="175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FD05430-3AD3-2FDD-FC1D-B4C2B7873A32}"/>
              </a:ext>
            </a:extLst>
          </p:cNvPr>
          <p:cNvSpPr/>
          <p:nvPr/>
        </p:nvSpPr>
        <p:spPr>
          <a:xfrm>
            <a:off x="11816862" y="7335297"/>
            <a:ext cx="2813538" cy="894303"/>
          </a:xfrm>
          <a:prstGeom prst="rect">
            <a:avLst/>
          </a:prstGeom>
          <a:solidFill>
            <a:srgbClr val="0000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3609"/>
            <a:ext cx="891111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 Que São Custos de Manutenção?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57701"/>
            <a:ext cx="6244709" cy="41631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91901" y="3187572"/>
            <a:ext cx="6244709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Despesas para manter máquinas e sistemas funcionais.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Inclui mão de obra, peças, ferramentas, EPIs e serviços.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Medir ajuda a identificar desperdícios e otimizar operações.</a:t>
            </a:r>
            <a:endParaRPr lang="en-US" sz="1750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48499E1-7813-6CCA-3734-79D71BFB23D3}"/>
              </a:ext>
            </a:extLst>
          </p:cNvPr>
          <p:cNvSpPr/>
          <p:nvPr/>
        </p:nvSpPr>
        <p:spPr>
          <a:xfrm>
            <a:off x="11816862" y="7335297"/>
            <a:ext cx="2813538" cy="894303"/>
          </a:xfrm>
          <a:prstGeom prst="rect">
            <a:avLst/>
          </a:prstGeom>
          <a:solidFill>
            <a:srgbClr val="0000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C0EEDFF-D6AF-7655-99BD-14660AE713DC}"/>
              </a:ext>
            </a:extLst>
          </p:cNvPr>
          <p:cNvSpPr txBox="1"/>
          <p:nvPr/>
        </p:nvSpPr>
        <p:spPr>
          <a:xfrm>
            <a:off x="7591903" y="5000477"/>
            <a:ext cx="6757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Custo de manutenção = manter disponibilidade + segurança + desempenho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69434" y="1347932"/>
            <a:ext cx="81688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Tipos de Custos de Manutenção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1468139" y="3649147"/>
            <a:ext cx="5347089" cy="2093714"/>
          </a:xfrm>
          <a:prstGeom prst="roundRect">
            <a:avLst>
              <a:gd name="adj" fmla="val 6988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37659" y="3649147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5A6ED8"/>
          </a:solidFill>
          <a:ln/>
        </p:spPr>
      </p:sp>
      <p:sp>
        <p:nvSpPr>
          <p:cNvPr id="5" name="Text 3"/>
          <p:cNvSpPr/>
          <p:nvPr/>
        </p:nvSpPr>
        <p:spPr>
          <a:xfrm>
            <a:off x="1816873" y="39064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Custos Diretos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16873" y="4396859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Gastos diretamente ligados à execução: peças, mão de obra, ferramentas.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8197259" y="3649147"/>
            <a:ext cx="5290617" cy="2093714"/>
          </a:xfrm>
          <a:prstGeom prst="roundRect">
            <a:avLst>
              <a:gd name="adj" fmla="val 6988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66780" y="3649147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5A6ED8"/>
          </a:solidFill>
          <a:ln/>
        </p:spPr>
      </p:sp>
      <p:sp>
        <p:nvSpPr>
          <p:cNvPr id="9" name="Text 7"/>
          <p:cNvSpPr/>
          <p:nvPr/>
        </p:nvSpPr>
        <p:spPr>
          <a:xfrm>
            <a:off x="8545994" y="39064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Custos Indiretos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545994" y="4396859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Relacionados à depreciação, paradas não planeadas, perdas de produção.</a:t>
            </a:r>
            <a:endParaRPr lang="en-US" sz="1750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EA4DA95-A760-619A-7E1F-A686C8AC9186}"/>
              </a:ext>
            </a:extLst>
          </p:cNvPr>
          <p:cNvSpPr/>
          <p:nvPr/>
        </p:nvSpPr>
        <p:spPr>
          <a:xfrm>
            <a:off x="11738312" y="7335297"/>
            <a:ext cx="2813538" cy="894303"/>
          </a:xfrm>
          <a:prstGeom prst="rect">
            <a:avLst/>
          </a:prstGeom>
          <a:solidFill>
            <a:srgbClr val="0000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47800"/>
            <a:ext cx="1181790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Como Calcular o Custo de Manutenção Direto?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83800"/>
            <a:ext cx="7604284" cy="786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783800"/>
            <a:ext cx="7604284" cy="7865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857387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Exemplo prático: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424363"/>
            <a:ext cx="7604284" cy="725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Mão de obra: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horas gastas × salário/hora do técnico.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Peças e materiais: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valores detalhados nas ordens de serviço.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354285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Importância: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Ordens de serviço detalhadas garantem precisão no cálculo.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19007" t="9514" r="15582" b="6760"/>
          <a:stretch>
            <a:fillRect/>
          </a:stretch>
        </p:blipFill>
        <p:spPr>
          <a:xfrm>
            <a:off x="9124918" y="2399651"/>
            <a:ext cx="4273186" cy="422648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41F9B75A-4C64-4165-BC45-8D1B7AB5CFC6}"/>
              </a:ext>
            </a:extLst>
          </p:cNvPr>
          <p:cNvSpPr/>
          <p:nvPr/>
        </p:nvSpPr>
        <p:spPr>
          <a:xfrm>
            <a:off x="11816862" y="7335297"/>
            <a:ext cx="2813538" cy="894303"/>
          </a:xfrm>
          <a:prstGeom prst="rect">
            <a:avLst/>
          </a:prstGeom>
          <a:solidFill>
            <a:srgbClr val="0000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233" y="602575"/>
            <a:ext cx="8413433" cy="644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Indicadores para Decisão: CPMV (%)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2233" y="1766649"/>
            <a:ext cx="6341269" cy="985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233" y="2848720"/>
            <a:ext cx="6341269" cy="9850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4614" y="4657328"/>
            <a:ext cx="6341269" cy="945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Referência:</a:t>
            </a: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CPMV &gt; 6% sugere que a manutenção é inviável.</a:t>
            </a:r>
            <a:endParaRPr lang="en-US" sz="160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Indica necessidade de substituição do equipamento.</a:t>
            </a:r>
            <a:endParaRPr lang="en-US" sz="1600" dirty="0"/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Ajuda a planear investimentos e evitar gastos excessivos.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4518" y="1740218"/>
            <a:ext cx="5675471" cy="567547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DA8A0FB8-240D-755B-24A0-3C5A2BB3F854}"/>
              </a:ext>
            </a:extLst>
          </p:cNvPr>
          <p:cNvSpPr/>
          <p:nvPr/>
        </p:nvSpPr>
        <p:spPr>
          <a:xfrm>
            <a:off x="11816862" y="7335297"/>
            <a:ext cx="2813538" cy="894303"/>
          </a:xfrm>
          <a:prstGeom prst="rect">
            <a:avLst/>
          </a:prstGeom>
          <a:solidFill>
            <a:srgbClr val="0000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9089" y="222146"/>
            <a:ext cx="809446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Estratégias para Reduzir Custos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928" y="1411095"/>
            <a:ext cx="2595588" cy="26639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082106" y="1410843"/>
            <a:ext cx="17085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Gestão Digital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153274" y="2216079"/>
            <a:ext cx="170854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Software para controle automático de ordens e indicadores.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3153274" y="4577284"/>
            <a:ext cx="170866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Capacitação da Equipa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3153274" y="5527456"/>
            <a:ext cx="170866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Treinamento para reduzir tempo e erros na manutenção.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9696" y="1410843"/>
            <a:ext cx="2370344" cy="27997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458609" y="1416864"/>
            <a:ext cx="170866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Planeamento Financeiro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458609" y="2261613"/>
            <a:ext cx="170866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Baseado em dados reais para evitar desperdícios.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9696" y="4461643"/>
            <a:ext cx="2383879" cy="287365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458609" y="4592616"/>
            <a:ext cx="170866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Tecnologia e Preditiva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9458609" y="5527456"/>
            <a:ext cx="170866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Investimento em manutenção preditiva e monitorização.</a:t>
            </a:r>
            <a:endParaRPr lang="en-US" sz="1750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823C302-2F21-D7DE-EF43-ACC3811BF366}"/>
              </a:ext>
            </a:extLst>
          </p:cNvPr>
          <p:cNvSpPr/>
          <p:nvPr/>
        </p:nvSpPr>
        <p:spPr>
          <a:xfrm>
            <a:off x="11816862" y="7335297"/>
            <a:ext cx="2813538" cy="894303"/>
          </a:xfrm>
          <a:prstGeom prst="rect">
            <a:avLst/>
          </a:prstGeom>
          <a:solidFill>
            <a:srgbClr val="0000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E2EF8763-0FA4-4A1F-7B9C-6E415EBA12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089" y="4461644"/>
            <a:ext cx="2381265" cy="28736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4558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Conclusão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794522"/>
            <a:ext cx="13042821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Precisão: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Controlar custos é vital para a saúde financeira.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Decisão: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Indicadores como CPMV guiam a estratégia.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Inovação: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Tecnologia transforma custos em vantagem competitiva.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Ação:</a:t>
            </a: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Mapeie seus custos para garantir equipamentos confiáveis e económicos.</a:t>
            </a:r>
            <a:endParaRPr lang="en-US" sz="175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33958B4-82ED-4DD1-506A-6583F3C199F6}"/>
              </a:ext>
            </a:extLst>
          </p:cNvPr>
          <p:cNvSpPr/>
          <p:nvPr/>
        </p:nvSpPr>
        <p:spPr>
          <a:xfrm>
            <a:off x="11816862" y="7335297"/>
            <a:ext cx="2813538" cy="894303"/>
          </a:xfrm>
          <a:prstGeom prst="rect">
            <a:avLst/>
          </a:prstGeom>
          <a:solidFill>
            <a:srgbClr val="0000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277</Words>
  <Application>Microsoft Office PowerPoint</Application>
  <PresentationFormat>Personalizar</PresentationFormat>
  <Paragraphs>44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Roboto Medium</vt:lpstr>
      <vt:lpstr>Roboto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Foda</cp:lastModifiedBy>
  <cp:revision>4</cp:revision>
  <dcterms:created xsi:type="dcterms:W3CDTF">2026-01-28T10:41:32Z</dcterms:created>
  <dcterms:modified xsi:type="dcterms:W3CDTF">2026-02-18T11:54:18Z</dcterms:modified>
</cp:coreProperties>
</file>