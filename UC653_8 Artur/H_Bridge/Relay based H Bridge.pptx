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59" r:id="rId6"/>
    <p:sldId id="373" r:id="rId7"/>
    <p:sldId id="374" r:id="rId8"/>
    <p:sldId id="365" r:id="rId9"/>
    <p:sldId id="376" r:id="rId10"/>
    <p:sldId id="377" r:id="rId11"/>
    <p:sldId id="380" r:id="rId12"/>
    <p:sldId id="379" r:id="rId13"/>
    <p:sldId id="372" r:id="rId1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030D"/>
    <a:srgbClr val="380463"/>
    <a:srgbClr val="28064C"/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 showGuides="1">
      <p:cViewPr varScale="1">
        <p:scale>
          <a:sx n="81" d="100"/>
          <a:sy n="81" d="100"/>
        </p:scale>
        <p:origin x="706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393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1086420-A740-4F15-A3C6-30D861C56993}" type="datetime1">
              <a:rPr lang="pt-BR" smtClean="0"/>
              <a:t>09/03/2026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9E9D61A1-75D9-49F7-83EB-F5872642613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A1707962-53E0-44BB-8889-074197576794}" type="datetime1">
              <a:rPr lang="pt-BR" smtClean="0"/>
              <a:pPr/>
              <a:t>09/03/2026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DEF75CB5-5666-5049-9AE0-38EFD385C21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fld id="{DEF75CB5-5666-5049-9AE0-38EFD385C21E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pt-BR"/>
              </a:pPr>
              <a:t>2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fld id="{DEF75CB5-5666-5049-9AE0-38EFD385C21E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pt-BR"/>
              </a:pPr>
              <a:t>5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EF75CB5-5666-5049-9AE0-38EFD385C21E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título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pt-B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pt-B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 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6" name="Espaço Reservado para Conteúdo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9" name="Elemento gráfico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pt-BR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pt-B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pt-BR" sz="3200" cap="all" spc="3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pt-BR" sz="2400" cap="all" spc="3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pt-BR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e 2 colunas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Elemento gráfico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13" name="Elemento gráfico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Elemento gráfico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7" name="Elemento gráfico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pt-BR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pic>
          <p:nvPicPr>
            <p:cNvPr id="6" name="Imagem 5" descr="Uma espiral azul e púrpura&#10;&#10;Descrição gerada automaticamente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Elemento gráfico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12" name="Elemento gráfico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13" name="Elemento gráfico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Elemento gráfico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  <p:sp>
            <p:nvSpPr>
              <p:cNvPr id="10" name="Elemento gráfico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</p:grp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Elemento gráfico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Elemento gráfico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Elemento gráfico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pt-BR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pt-BR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pt-B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pt-B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/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2" name="Espaço reservado para tabela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pt-BR" sz="2400">
                <a:latin typeface="+mn-lt"/>
              </a:defRPr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pt-BR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pt-BR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pt-BR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pt-BR" sz="1800" spc="0"/>
            </a:lvl4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pt-BR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pt-BR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pt-BR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pt-B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 coluna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pt-B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Tabela 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pt-BR" sz="2400">
                <a:latin typeface="+mn-lt"/>
              </a:defRPr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Rodapé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pt-B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16" name="Espaço Reservado para o Número do Slid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pt-B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8" name="Elemento gráfico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pt-BR"/>
                </a:defPPr>
              </a:lstStyle>
              <a:p>
                <a:pPr rtl="0"/>
                <a:endParaRPr lang="pt-BR" dirty="0"/>
              </a:p>
            </p:txBody>
          </p:sp>
        </p:grpSp>
        <p:pic>
          <p:nvPicPr>
            <p:cNvPr id="4" name="Espaço Reservado para Conteúdo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pt-BR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pt-B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pt-B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pt-B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pt-B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pt-B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pt-BR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pt-BR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pt-BR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pt-BR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pt-BR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2.mp4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8.xml"/><Relationship Id="rId4" Type="http://schemas.openxmlformats.org/officeDocument/2006/relationships/video" Target="../media/media2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rtlCol="0" anchor="b"/>
          <a:lstStyle>
            <a:defPPr>
              <a:defRPr lang="pt-BR"/>
            </a:defPPr>
          </a:lstStyle>
          <a:p>
            <a:pPr rtl="0"/>
            <a:r>
              <a:rPr lang="pt-BR" dirty="0"/>
              <a:t>Relay </a:t>
            </a:r>
            <a:r>
              <a:rPr lang="pt-BR" dirty="0" err="1"/>
              <a:t>based</a:t>
            </a:r>
            <a:r>
              <a:rPr lang="pt-BR" dirty="0"/>
              <a:t> H Bridge</a:t>
            </a:r>
          </a:p>
        </p:txBody>
      </p:sp>
      <p:sp>
        <p:nvSpPr>
          <p:cNvPr id="9" name="Subtítulo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TEARCI T3</a:t>
            </a:r>
            <a:br>
              <a:rPr lang="pt-BR" dirty="0"/>
            </a:br>
            <a:r>
              <a:rPr lang="pt-BR" dirty="0" err="1"/>
              <a:t>Julio</a:t>
            </a:r>
            <a:r>
              <a:rPr lang="pt-BR" dirty="0"/>
              <a:t> filho</a:t>
            </a:r>
          </a:p>
          <a:p>
            <a:pPr rtl="0"/>
            <a:r>
              <a:rPr lang="pt-BR" dirty="0"/>
              <a:t>Tomás carvalho</a:t>
            </a:r>
          </a:p>
          <a:p>
            <a:pPr rtl="0"/>
            <a:r>
              <a:rPr lang="pt-BR" dirty="0"/>
              <a:t>Luís amorim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 err="1"/>
              <a:t>Summary</a:t>
            </a:r>
            <a:endParaRPr lang="pt-BR" dirty="0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rtlCol="0" anchor="t"/>
          <a:lstStyle>
            <a:defPPr>
              <a:defRPr lang="pt-BR"/>
            </a:defPPr>
          </a:lstStyle>
          <a:p>
            <a:pPr rtl="0"/>
            <a:r>
              <a:rPr lang="pt-BR" dirty="0" err="1"/>
              <a:t>Intro</a:t>
            </a:r>
            <a:endParaRPr lang="pt-BR" dirty="0"/>
          </a:p>
          <a:p>
            <a:r>
              <a:rPr lang="pt-BR" dirty="0" err="1"/>
              <a:t>Physical</a:t>
            </a:r>
            <a:r>
              <a:rPr lang="pt-BR" dirty="0"/>
              <a:t> </a:t>
            </a:r>
            <a:r>
              <a:rPr lang="pt-BR" dirty="0" err="1"/>
              <a:t>assembly</a:t>
            </a:r>
            <a:endParaRPr lang="pt-BR" dirty="0"/>
          </a:p>
          <a:p>
            <a:r>
              <a:rPr lang="pt-BR" dirty="0" err="1"/>
              <a:t>Schematic</a:t>
            </a:r>
            <a:r>
              <a:rPr lang="pt-BR" dirty="0"/>
              <a:t> </a:t>
            </a:r>
            <a:r>
              <a:rPr lang="pt-BR" dirty="0" err="1"/>
              <a:t>assembly</a:t>
            </a:r>
            <a:endParaRPr lang="pt-BR" dirty="0"/>
          </a:p>
          <a:p>
            <a:r>
              <a:rPr lang="pt-BR" dirty="0" err="1"/>
              <a:t>Technical</a:t>
            </a:r>
            <a:r>
              <a:rPr lang="pt-BR" dirty="0"/>
              <a:t> </a:t>
            </a:r>
            <a:r>
              <a:rPr lang="pt-BR" dirty="0" err="1"/>
              <a:t>details</a:t>
            </a:r>
            <a:endParaRPr lang="pt-BR" dirty="0"/>
          </a:p>
          <a:p>
            <a:pPr rtl="0"/>
            <a:r>
              <a:rPr lang="pt-BR" dirty="0"/>
              <a:t>Final </a:t>
            </a:r>
            <a:r>
              <a:rPr lang="pt-BR" dirty="0" err="1"/>
              <a:t>thoughts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INTRO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The H bridge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72449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 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134" y="1072656"/>
            <a:ext cx="4958081" cy="724497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fr-FR" dirty="0"/>
              <a:t>The beginning</a:t>
            </a:r>
            <a:endParaRPr lang="pt-BR" dirty="0"/>
          </a:p>
        </p:txBody>
      </p:sp>
      <p:pic>
        <p:nvPicPr>
          <p:cNvPr id="8" name="Espaço Reservado para Imagem 7" descr="Espirais azul e púrpura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79527" y="336550"/>
            <a:ext cx="5322887" cy="6184900"/>
          </a:xfrm>
        </p:spPr>
      </p:pic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1F834B-8F86-56FB-75C0-0F5839110054}"/>
              </a:ext>
            </a:extLst>
          </p:cNvPr>
          <p:cNvSpPr txBox="1"/>
          <p:nvPr/>
        </p:nvSpPr>
        <p:spPr>
          <a:xfrm>
            <a:off x="718134" y="2597264"/>
            <a:ext cx="43680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Initially, we received an assignment to assemble an H-bridge for a motor, where we would be assembling our own relay shields.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1E1FD30-28E0-9F42-B35E-D5E2B8E45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035" y="1072656"/>
            <a:ext cx="4757872" cy="47091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516" y="264160"/>
            <a:ext cx="5094970" cy="3373973"/>
          </a:xfrm>
        </p:spPr>
        <p:txBody>
          <a:bodyPr rtlCol="0" anchor="b"/>
          <a:lstStyle>
            <a:defPPr>
              <a:defRPr lang="pt-BR"/>
            </a:defPPr>
          </a:lstStyle>
          <a:p>
            <a:pPr>
              <a:lnSpc>
                <a:spcPct val="120000"/>
              </a:lnSpc>
            </a:pPr>
            <a:r>
              <a:rPr lang="pt-BR" dirty="0" err="1"/>
              <a:t>Physical</a:t>
            </a:r>
            <a:r>
              <a:rPr lang="pt-BR" dirty="0"/>
              <a:t> </a:t>
            </a:r>
            <a:r>
              <a:rPr lang="pt-BR" dirty="0" err="1"/>
              <a:t>assembly</a:t>
            </a:r>
            <a:br>
              <a:rPr lang="pt-BR" dirty="0"/>
            </a:br>
            <a:endParaRPr lang="pt-BR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 err="1"/>
              <a:t>My</a:t>
            </a:r>
            <a:r>
              <a:rPr lang="pt-BR" dirty="0"/>
              <a:t> </a:t>
            </a:r>
            <a:r>
              <a:rPr lang="pt-BR" dirty="0" err="1"/>
              <a:t>first</a:t>
            </a:r>
            <a:r>
              <a:rPr lang="pt-BR" dirty="0"/>
              <a:t> steps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project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02" y="1199122"/>
            <a:ext cx="8843050" cy="1089465"/>
          </a:xfrm>
        </p:spPr>
        <p:txBody>
          <a:bodyPr rtlCol="0"/>
          <a:lstStyle>
            <a:defPPr>
              <a:defRPr lang="pt-BR"/>
            </a:defPPr>
          </a:lstStyle>
          <a:p>
            <a:pPr algn="ctr"/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The relay Shield &amp; H Bridge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6" name="WhatsApp Video 2026-03-02 at 11.27.56">
            <a:hlinkClick r:id="" action="ppaction://media"/>
            <a:extLst>
              <a:ext uri="{FF2B5EF4-FFF2-40B4-BE49-F238E27FC236}">
                <a16:creationId xmlns:a16="http://schemas.microsoft.com/office/drawing/2014/main" id="{E526B317-BCA4-3BA6-F613-78571C9AD480}"/>
              </a:ext>
            </a:extLst>
          </p:cNvPr>
          <p:cNvPicPr>
            <a:picLocks noGrp="1" noChangeAspect="1"/>
          </p:cNvPicPr>
          <p:nvPr>
            <p:ph sz="quarter" idx="35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668425" y="1937324"/>
            <a:ext cx="3722997" cy="2983352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innerShdw blurRad="469900">
              <a:srgbClr val="000000">
                <a:alpha val="86000"/>
              </a:srgbClr>
            </a:innerShdw>
          </a:effectLst>
          <a:scene3d>
            <a:camera prst="orthographicFront"/>
            <a:lightRig rig="soft" dir="t"/>
          </a:scene3d>
          <a:sp3d/>
        </p:spPr>
      </p:pic>
      <p:pic>
        <p:nvPicPr>
          <p:cNvPr id="7" name="Teste ponte H com o motor">
            <a:hlinkClick r:id="" action="ppaction://media"/>
            <a:extLst>
              <a:ext uri="{FF2B5EF4-FFF2-40B4-BE49-F238E27FC236}">
                <a16:creationId xmlns:a16="http://schemas.microsoft.com/office/drawing/2014/main" id="{CEFE68E9-B786-4D23-E4C1-10D39D241CFD}"/>
              </a:ext>
            </a:extLst>
          </p:cNvPr>
          <p:cNvPicPr>
            <a:picLocks noGrp="1" noChangeAspect="1"/>
          </p:cNvPicPr>
          <p:nvPr>
            <p:ph sz="quarter" idx="36"/>
            <a:videoFile r:link="rId4"/>
            <p:extLst>
              <p:ext uri="{DAA4B4D4-6D71-4841-9C94-3DE7FCFB9230}">
                <p14:media xmlns:p14="http://schemas.microsoft.com/office/powerpoint/2010/main" r:embed="rId3">
                  <p14:fade in="750" out="25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174186" y="1937324"/>
            <a:ext cx="3714208" cy="2983352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innerShdw blurRad="469900">
              <a:srgbClr val="000000">
                <a:alpha val="86000"/>
              </a:srgbClr>
            </a:innerShdw>
          </a:effectLst>
          <a:scene3d>
            <a:camera prst="orthographicFront"/>
            <a:lightRig rig="soft" dir="t"/>
          </a:scene3d>
          <a:sp3d/>
        </p:spPr>
      </p:pic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 rtl="0"/>
              <a:t>6</a:t>
            </a:fld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442A658-390D-5523-E93A-A0837C7FAA8F}"/>
              </a:ext>
            </a:extLst>
          </p:cNvPr>
          <p:cNvSpPr txBox="1"/>
          <p:nvPr/>
        </p:nvSpPr>
        <p:spPr>
          <a:xfrm>
            <a:off x="2665382" y="5335712"/>
            <a:ext cx="4129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My setup simulating the relay shield and its operation.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54D3AEE-EB4F-3BB4-6345-0A7B9737F3AB}"/>
              </a:ext>
            </a:extLst>
          </p:cNvPr>
          <p:cNvSpPr txBox="1"/>
          <p:nvPr/>
        </p:nvSpPr>
        <p:spPr>
          <a:xfrm>
            <a:off x="7174187" y="5335712"/>
            <a:ext cx="4129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simulation with 4 relays using pre-made optocouplers.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199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0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 err="1"/>
              <a:t>Schematic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35372" y="2465539"/>
            <a:ext cx="4307297" cy="2634516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en-US" sz="2800" dirty="0"/>
              <a:t>Complete schematic with 2 shields with dual relays joined in a single H-bridge design.</a:t>
            </a:r>
          </a:p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 rtl="0"/>
              <a:t>7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BEB8F5B-32F9-61AC-6D46-A5DB01540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" y="2320403"/>
            <a:ext cx="6081151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PCB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B28BCFD5-4204-AFF5-252B-9AD7AC957CFF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3"/>
          <a:stretch>
            <a:fillRect/>
          </a:stretch>
        </p:blipFill>
        <p:spPr>
          <a:xfrm>
            <a:off x="704983" y="2452326"/>
            <a:ext cx="3195394" cy="1721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E024F78-56A6-7740-B68D-8D4D026EDF3F}" type="slidenum">
              <a:rPr lang="pt-BR" smtClean="0"/>
              <a:pPr rtl="0"/>
              <a:t>8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E68A063-A9C0-AA93-3566-ACBAC159A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85" y="4226296"/>
            <a:ext cx="3195392" cy="17983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DF0527F-1CE0-AA03-21BC-417C3D9D8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611087" y="3527776"/>
            <a:ext cx="1773972" cy="31953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52DC7D8-4F14-C5C9-4870-8585AA23D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639666" y="1770192"/>
            <a:ext cx="1773970" cy="31382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6682D233-FF0B-804C-727E-B58629778EDF}"/>
              </a:ext>
            </a:extLst>
          </p:cNvPr>
          <p:cNvSpPr txBox="1"/>
          <p:nvPr/>
        </p:nvSpPr>
        <p:spPr>
          <a:xfrm flipH="1">
            <a:off x="7294843" y="3266124"/>
            <a:ext cx="41921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Images of the project's PCB made in </a:t>
            </a:r>
            <a:r>
              <a:rPr lang="en-US" sz="2800" dirty="0" err="1">
                <a:solidFill>
                  <a:schemeClr val="bg1"/>
                </a:solidFill>
              </a:rPr>
              <a:t>KiCad</a:t>
            </a:r>
            <a:r>
              <a:rPr lang="en-US" sz="2800" dirty="0">
                <a:solidFill>
                  <a:schemeClr val="bg1"/>
                </a:solidFill>
              </a:rPr>
              <a:t> (left) and then images of the Gerber viewers (right).</a:t>
            </a:r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108193" cy="2202350"/>
          </a:xfrm>
        </p:spPr>
        <p:txBody>
          <a:bodyPr rtlCol="0"/>
          <a:lstStyle>
            <a:defPPr>
              <a:defRPr lang="pt-BR"/>
            </a:defPPr>
          </a:lstStyle>
          <a:p>
            <a:pPr lvl="0" rtl="0">
              <a:lnSpc>
                <a:spcPct val="100000"/>
              </a:lnSpc>
            </a:pPr>
            <a:r>
              <a:rPr lang="pt-BR" noProof="0" dirty="0"/>
              <a:t>Some </a:t>
            </a:r>
            <a:r>
              <a:rPr lang="pt-BR" noProof="0" dirty="0" err="1"/>
              <a:t>thechnical</a:t>
            </a:r>
            <a:r>
              <a:rPr lang="pt-BR" noProof="0" dirty="0"/>
              <a:t> </a:t>
            </a:r>
            <a:r>
              <a:rPr lang="pt-BR" noProof="0" dirty="0" err="1"/>
              <a:t>details</a:t>
            </a:r>
            <a:endParaRPr lang="pt-BR" noProof="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35369" y="3429000"/>
            <a:ext cx="3108193" cy="164826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en-US" sz="2000" dirty="0"/>
              <a:t>A deeper dive into some information I had to look up during the project's production.</a:t>
            </a:r>
          </a:p>
          <a:p>
            <a:pPr rtl="0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5A5717F-8323-89D8-D2C8-068E25BAB476}"/>
              </a:ext>
            </a:extLst>
          </p:cNvPr>
          <p:cNvSpPr txBox="1"/>
          <p:nvPr/>
        </p:nvSpPr>
        <p:spPr>
          <a:xfrm>
            <a:off x="4968663" y="2134751"/>
            <a:ext cx="70378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The Arduino pin </a:t>
            </a:r>
            <a:r>
              <a:rPr lang="pt-BR" dirty="0" err="1">
                <a:solidFill>
                  <a:schemeClr val="bg1"/>
                </a:solidFill>
              </a:rPr>
              <a:t>cannot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supply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the</a:t>
            </a:r>
            <a:r>
              <a:rPr lang="pt-BR" dirty="0">
                <a:solidFill>
                  <a:schemeClr val="bg1"/>
                </a:solidFill>
              </a:rPr>
              <a:t> relay </a:t>
            </a:r>
            <a:r>
              <a:rPr lang="pt-BR" dirty="0" err="1">
                <a:solidFill>
                  <a:schemeClr val="bg1"/>
                </a:solidFill>
              </a:rPr>
              <a:t>coil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current</a:t>
            </a:r>
            <a:r>
              <a:rPr lang="pt-BR" dirty="0">
                <a:solidFill>
                  <a:schemeClr val="bg1"/>
                </a:solidFill>
              </a:rPr>
              <a:t> (~70 </a:t>
            </a:r>
            <a:r>
              <a:rPr lang="pt-BR" dirty="0" err="1">
                <a:solidFill>
                  <a:schemeClr val="bg1"/>
                </a:solidFill>
              </a:rPr>
              <a:t>mA</a:t>
            </a:r>
            <a:r>
              <a:rPr lang="pt-BR" dirty="0">
                <a:solidFill>
                  <a:schemeClr val="bg1"/>
                </a:solidFill>
              </a:rPr>
              <a:t>) → use </a:t>
            </a:r>
            <a:r>
              <a:rPr lang="pt-BR" dirty="0" err="1">
                <a:solidFill>
                  <a:schemeClr val="bg1"/>
                </a:solidFill>
              </a:rPr>
              <a:t>an</a:t>
            </a:r>
            <a:r>
              <a:rPr lang="pt-BR" dirty="0">
                <a:solidFill>
                  <a:schemeClr val="bg1"/>
                </a:solidFill>
              </a:rPr>
              <a:t> NPN transistor as a </a:t>
            </a:r>
            <a:r>
              <a:rPr lang="pt-BR" dirty="0" err="1">
                <a:solidFill>
                  <a:schemeClr val="bg1"/>
                </a:solidFill>
              </a:rPr>
              <a:t>low-impedance</a:t>
            </a:r>
            <a:r>
              <a:rPr lang="pt-BR" dirty="0">
                <a:solidFill>
                  <a:schemeClr val="bg1"/>
                </a:solidFill>
              </a:rPr>
              <a:t> switch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Design for </a:t>
            </a:r>
            <a:r>
              <a:rPr lang="pt-BR" dirty="0" err="1">
                <a:solidFill>
                  <a:schemeClr val="bg1"/>
                </a:solidFill>
              </a:rPr>
              <a:t>saturation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using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forced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el-GR" dirty="0">
                <a:solidFill>
                  <a:schemeClr val="bg1"/>
                </a:solidFill>
              </a:rPr>
              <a:t>β ≈ 10</a:t>
            </a:r>
          </a:p>
          <a:p>
            <a:r>
              <a:rPr lang="el-GR" dirty="0">
                <a:solidFill>
                  <a:schemeClr val="bg1"/>
                </a:solidFill>
              </a:rPr>
              <a:t>→ </a:t>
            </a:r>
            <a:r>
              <a:rPr lang="pt-BR" dirty="0">
                <a:solidFill>
                  <a:schemeClr val="bg1"/>
                </a:solidFill>
              </a:rPr>
              <a:t>IB ≥ IC / 10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 err="1">
                <a:solidFill>
                  <a:schemeClr val="bg1"/>
                </a:solidFill>
              </a:rPr>
              <a:t>Coil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current</a:t>
            </a:r>
            <a:r>
              <a:rPr lang="pt-BR" dirty="0">
                <a:solidFill>
                  <a:schemeClr val="bg1"/>
                </a:solidFill>
              </a:rPr>
              <a:t>: IC ≈ </a:t>
            </a:r>
            <a:r>
              <a:rPr lang="pt-BR" dirty="0" err="1">
                <a:solidFill>
                  <a:schemeClr val="bg1"/>
                </a:solidFill>
              </a:rPr>
              <a:t>Vcoil</a:t>
            </a:r>
            <a:r>
              <a:rPr lang="pt-BR" dirty="0">
                <a:solidFill>
                  <a:schemeClr val="bg1"/>
                </a:solidFill>
              </a:rPr>
              <a:t> / </a:t>
            </a:r>
            <a:r>
              <a:rPr lang="pt-BR" dirty="0" err="1">
                <a:solidFill>
                  <a:schemeClr val="bg1"/>
                </a:solidFill>
              </a:rPr>
              <a:t>Rcoil</a:t>
            </a:r>
            <a:r>
              <a:rPr lang="pt-BR" dirty="0">
                <a:solidFill>
                  <a:schemeClr val="bg1"/>
                </a:solidFill>
              </a:rPr>
              <a:t> ≈ 5 V / 70 </a:t>
            </a:r>
            <a:r>
              <a:rPr lang="el-GR" dirty="0">
                <a:solidFill>
                  <a:schemeClr val="bg1"/>
                </a:solidFill>
              </a:rPr>
              <a:t>Ω ≈ 72 </a:t>
            </a:r>
            <a:r>
              <a:rPr lang="pt-BR" dirty="0" err="1">
                <a:solidFill>
                  <a:schemeClr val="bg1"/>
                </a:solidFill>
              </a:rPr>
              <a:t>mA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 err="1">
                <a:solidFill>
                  <a:schemeClr val="bg1"/>
                </a:solidFill>
              </a:rPr>
              <a:t>Therefore</a:t>
            </a:r>
            <a:r>
              <a:rPr lang="pt-BR" dirty="0">
                <a:solidFill>
                  <a:schemeClr val="bg1"/>
                </a:solidFill>
              </a:rPr>
              <a:t>, IB ≈ 7.2 </a:t>
            </a:r>
            <a:r>
              <a:rPr lang="pt-BR" dirty="0" err="1">
                <a:solidFill>
                  <a:schemeClr val="bg1"/>
                </a:solidFill>
              </a:rPr>
              <a:t>mA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Base resistor: RB ≈ (VOH(min) − VBE(sat)) / IB</a:t>
            </a:r>
          </a:p>
          <a:p>
            <a:r>
              <a:rPr lang="pt-BR" dirty="0" err="1">
                <a:solidFill>
                  <a:schemeClr val="bg1"/>
                </a:solidFill>
              </a:rPr>
              <a:t>Using</a:t>
            </a:r>
            <a:r>
              <a:rPr lang="pt-BR" dirty="0">
                <a:solidFill>
                  <a:schemeClr val="bg1"/>
                </a:solidFill>
              </a:rPr>
              <a:t> VOH(min) ≈ 4.1 V, VBE(sat) ≈ 0.8 V → RB ≈ 458 </a:t>
            </a:r>
            <a:r>
              <a:rPr lang="el-GR" dirty="0">
                <a:solidFill>
                  <a:schemeClr val="bg1"/>
                </a:solidFill>
              </a:rPr>
              <a:t>Ω → </a:t>
            </a:r>
            <a:r>
              <a:rPr lang="pt-BR" dirty="0" err="1">
                <a:solidFill>
                  <a:schemeClr val="bg1"/>
                </a:solidFill>
              </a:rPr>
              <a:t>choose</a:t>
            </a:r>
            <a:r>
              <a:rPr lang="pt-BR" dirty="0">
                <a:solidFill>
                  <a:schemeClr val="bg1"/>
                </a:solidFill>
              </a:rPr>
              <a:t> 220+220 </a:t>
            </a:r>
            <a:r>
              <a:rPr lang="el-GR" dirty="0">
                <a:solidFill>
                  <a:schemeClr val="bg1"/>
                </a:solidFill>
              </a:rPr>
              <a:t>Ω</a:t>
            </a:r>
          </a:p>
          <a:p>
            <a:endParaRPr lang="el-G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The </a:t>
            </a:r>
            <a:r>
              <a:rPr lang="pt-BR" dirty="0" err="1">
                <a:solidFill>
                  <a:schemeClr val="bg1"/>
                </a:solidFill>
              </a:rPr>
              <a:t>overvoltage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protection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diode</a:t>
            </a:r>
            <a:r>
              <a:rPr lang="pt-BR" dirty="0">
                <a:solidFill>
                  <a:schemeClr val="bg1"/>
                </a:solidFill>
              </a:rPr>
              <a:t> in </a:t>
            </a:r>
            <a:r>
              <a:rPr lang="pt-BR" dirty="0" err="1">
                <a:solidFill>
                  <a:schemeClr val="bg1"/>
                </a:solidFill>
              </a:rPr>
              <a:t>the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coil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protects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against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voltage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spikes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during</a:t>
            </a:r>
            <a:r>
              <a:rPr lang="pt-BR" dirty="0">
                <a:solidFill>
                  <a:schemeClr val="bg1"/>
                </a:solidFill>
              </a:rPr>
              <a:t> shutdown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688C29B-0702-4967-A27F-D81A47874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751" y="404739"/>
            <a:ext cx="3069376" cy="173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tângulo 1">
            <a:extLst>
              <a:ext uri="{FF2B5EF4-FFF2-40B4-BE49-F238E27FC236}">
                <a16:creationId xmlns:a16="http://schemas.microsoft.com/office/drawing/2014/main" id="{EC4766F7-3D98-AF7F-A9A7-C1B8E9EFC336}"/>
              </a:ext>
            </a:extLst>
          </p:cNvPr>
          <p:cNvSpPr/>
          <p:nvPr/>
        </p:nvSpPr>
        <p:spPr>
          <a:xfrm>
            <a:off x="703385" y="2489980"/>
            <a:ext cx="4409514" cy="618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4452" y="550045"/>
            <a:ext cx="5323095" cy="297742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4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B29BD39-2BCF-0569-6369-FE81A7160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49594_TF11936837_Win32" id="{1F59BAB0-9115-4D7C-97A5-C14D763720C4}" vid="{4A09BBE7-84ED-4D2C-9255-569D5B21537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resultados científicos</Template>
  <TotalTime>211</TotalTime>
  <Words>279</Words>
  <Application>Microsoft Office PowerPoint</Application>
  <PresentationFormat>Widescreen</PresentationFormat>
  <Paragraphs>54</Paragraphs>
  <Slides>10</Slides>
  <Notes>10</Notes>
  <HiddenSlides>0</HiddenSlides>
  <MMClips>2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Arial Nova</vt:lpstr>
      <vt:lpstr>Biome</vt:lpstr>
      <vt:lpstr>Calibri</vt:lpstr>
      <vt:lpstr>Personalizado</vt:lpstr>
      <vt:lpstr>Relay based H Bridge</vt:lpstr>
      <vt:lpstr>Summary</vt:lpstr>
      <vt:lpstr>INTRO</vt:lpstr>
      <vt:lpstr> </vt:lpstr>
      <vt:lpstr>Physical assembly </vt:lpstr>
      <vt:lpstr>   The relay Shield &amp; H Bridge  </vt:lpstr>
      <vt:lpstr>Schematic</vt:lpstr>
      <vt:lpstr>PCB</vt:lpstr>
      <vt:lpstr>Some thechnical details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Foda</dc:creator>
  <cp:lastModifiedBy>Carvalhinho</cp:lastModifiedBy>
  <cp:revision>5</cp:revision>
  <dcterms:created xsi:type="dcterms:W3CDTF">2026-03-02T08:55:50Z</dcterms:created>
  <dcterms:modified xsi:type="dcterms:W3CDTF">2026-03-09T09:39:49Z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