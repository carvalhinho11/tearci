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77" r:id="rId3"/>
    <p:sldId id="27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6" r:id="rId19"/>
    <p:sldId id="272" r:id="rId20"/>
    <p:sldId id="273" r:id="rId21"/>
    <p:sldId id="271" r:id="rId22"/>
    <p:sldId id="275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04BF1-D925-4C01-B67C-5FD6A176D370}" type="datetimeFigureOut">
              <a:rPr lang="pt-PT" smtClean="0"/>
              <a:t>13/02/2026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1AB99-C1E8-431E-8515-9FA2AB94FC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98030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1AB99-C1E8-431E-8515-9FA2AB94FCC3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8098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DD71BD-8DD3-73E2-5060-7540A7B99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uc652_7 </a:t>
            </a:r>
            <a:br>
              <a:rPr lang="pt-PT" dirty="0"/>
            </a:br>
            <a:r>
              <a:rPr lang="pt-PT" dirty="0"/>
              <a:t>Otimizar e implementar circuitos lógicos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B66088-C6BC-9BC4-D0C6-D8205DAFD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Tomás carvalho</a:t>
            </a:r>
          </a:p>
          <a:p>
            <a:r>
              <a:rPr lang="pt-PT" dirty="0"/>
              <a:t>N16 t3 </a:t>
            </a:r>
            <a:r>
              <a:rPr lang="pt-PT" dirty="0" err="1"/>
              <a:t>tearci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9643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E6566-6CA9-7633-E149-802C9D82B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PRIMEIROS PASSOS COM PORTAS LÓGICAS NA APLICAÇÃO DEEDS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CD15CD3-BCE4-1E87-6986-213F3DEC5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485" y="2066247"/>
            <a:ext cx="6259853" cy="417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D640DCB-1014-23CB-6F32-4A4AF9A3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429000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Circuito XOR (OU Exclusivo)</a:t>
            </a:r>
          </a:p>
          <a:p>
            <a:pPr marL="0" indent="0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Duas entradas: A e B</a:t>
            </a:r>
          </a:p>
          <a:p>
            <a:pPr marL="0" indent="0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Saída S = 1 quando A ≠ B</a:t>
            </a:r>
          </a:p>
          <a:p>
            <a:pPr marL="0" indent="0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Implementado com portas NOT, AND e OR</a:t>
            </a:r>
          </a:p>
          <a:p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5480B1-9B1D-4663-F406-194A68EB1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618518"/>
            <a:ext cx="7946027" cy="2686904"/>
          </a:xfrm>
          <a:prstGeom prst="rect">
            <a:avLst/>
          </a:prstGeom>
        </p:spPr>
      </p:pic>
      <p:pic>
        <p:nvPicPr>
          <p:cNvPr id="3074" name="Picture 2" descr="Porta Lógica XOR - Eletrônica Digital - Bóson Treinamentos em Ciência e  Tecnologia">
            <a:extLst>
              <a:ext uri="{FF2B5EF4-FFF2-40B4-BE49-F238E27FC236}">
                <a16:creationId xmlns:a16="http://schemas.microsoft.com/office/drawing/2014/main" id="{7BDA6A0B-8D4E-8D01-9A9B-FACE4032A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082" y="3689062"/>
            <a:ext cx="3608713" cy="245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95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DAFC409-5D04-1D2A-FE54-A5DFFBF02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89" y="3711804"/>
            <a:ext cx="9905999" cy="3541714"/>
          </a:xfrm>
        </p:spPr>
        <p:txBody>
          <a:bodyPr/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objetivo deste exercício foi projetar um circuito digital utilizando três sensores de nível, sensor vazio (V), sensor médio (M) e sensor cheio (C) para controlar a saída de um motor, sinalizar possíveis situações de erro e acionar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LEDs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indicativos do estado do reservatório. 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sistema tem como finalidade representar o funcionamento automático de um tanque de armazenamento de líquido.</a:t>
            </a:r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1E12D4-872E-CF76-6499-76479D7BA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89" y="348196"/>
            <a:ext cx="6193410" cy="308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9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7600AB1-5F60-0B88-8468-4DAAD745A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237705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Na imagem foi montado e testado um circuito digital com flip-flops SR e JK em um simulador.</a:t>
            </a:r>
            <a:b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À esquerda, o flip-flop SR é controlado pelas entradas SET, RESET, PRESET e CLEAR, permitindo observar o comportamento das saídas. 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À direita, foi implementado um flip-flop JK acionado por um sinal de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com entradas J, K, PRESET e CLEAR. As saídas Q e ¬Q são monitoradas para verificar os modos de operação: manter o estado anterior, set,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ou alternar (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toggle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), conforme a tabela verdade apresentada.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2F2C39A-9545-550E-84DB-96167D29D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58" y="746030"/>
            <a:ext cx="7022359" cy="3090679"/>
          </a:xfrm>
          <a:prstGeom prst="rect">
            <a:avLst/>
          </a:prstGeom>
        </p:spPr>
      </p:pic>
      <p:pic>
        <p:nvPicPr>
          <p:cNvPr id="1030" name="Picture 6" descr="74LS76 Dual JK Flip-Flop with Preset and Clear - Datasheet Hub">
            <a:extLst>
              <a:ext uri="{FF2B5EF4-FFF2-40B4-BE49-F238E27FC236}">
                <a16:creationId xmlns:a16="http://schemas.microsoft.com/office/drawing/2014/main" id="{AE89F01F-2154-2675-4A9C-A1AC47E5A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858" y="746029"/>
            <a:ext cx="4255914" cy="309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825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1EEC848-F8A1-78F8-615C-10A2168D7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860562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Um 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circuito com flip-flop D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tem uma função parecida com a do 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JK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mas é 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mais simples e previsível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. Enquanto o JK decide a saída com base na combinação das entradas 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o flip-flop 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D (Data ou </a:t>
            </a:r>
            <a:r>
              <a:rPr lang="pt-PT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Delay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copia diretamente o valor da entrada 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para a saída 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no instante do </a:t>
            </a:r>
            <a:r>
              <a:rPr lang="pt-PT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8592E2-E092-0D41-6405-8559E0A7D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8925"/>
            <a:ext cx="6677591" cy="4062145"/>
          </a:xfrm>
          <a:prstGeom prst="rect">
            <a:avLst/>
          </a:prstGeom>
        </p:spPr>
      </p:pic>
      <p:pic>
        <p:nvPicPr>
          <p:cNvPr id="2050" name="Picture 2" descr="7474 Dual D-Type Flip-Flop Datasheet">
            <a:extLst>
              <a:ext uri="{FF2B5EF4-FFF2-40B4-BE49-F238E27FC236}">
                <a16:creationId xmlns:a16="http://schemas.microsoft.com/office/drawing/2014/main" id="{4A54F5A2-7FB0-4CD8-1828-5BA777881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099" y="1112432"/>
            <a:ext cx="2598313" cy="2316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59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FBD8835-70A0-58AF-17A6-47C688E0E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89" y="4530774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circuito mostra o uso de um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multiplexer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4:1 e um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demultiplexer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1:4.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multiplexer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seleciona uma entre quatro entradas, conforme os sinais de seleção, e envia esse valor por uma única linha. Em seguida, 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demultiplexer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recebe esse sinal e o direciona para uma das quatro saídas, de acordo com suas próprias linhas de seleção.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objetivo é demonstrar a seleção e a distribuição de sinais digitais usando menos conexões.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A716A1-15BF-E3CC-6B01-5627BB18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997" y="634959"/>
            <a:ext cx="6409759" cy="3895815"/>
          </a:xfrm>
          <a:prstGeom prst="rect">
            <a:avLst/>
          </a:prstGeom>
        </p:spPr>
      </p:pic>
      <p:pic>
        <p:nvPicPr>
          <p:cNvPr id="3074" name="Picture 2" descr="MAX4638 Datasheet and Product Info | Analog Devices">
            <a:extLst>
              <a:ext uri="{FF2B5EF4-FFF2-40B4-BE49-F238E27FC236}">
                <a16:creationId xmlns:a16="http://schemas.microsoft.com/office/drawing/2014/main" id="{99B90A64-197B-A611-1158-343C14C01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073" y="368901"/>
            <a:ext cx="2960073" cy="169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6 Pin DIP Logic Chip /Demultiplexer Designing Steps, Truth Table, And 3 To  8 Line Decoder">
            <a:extLst>
              <a:ext uri="{FF2B5EF4-FFF2-40B4-BE49-F238E27FC236}">
                <a16:creationId xmlns:a16="http://schemas.microsoft.com/office/drawing/2014/main" id="{AB979CAC-91BA-F370-5CA9-0223E0F0B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074" y="2185272"/>
            <a:ext cx="2960073" cy="248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53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1CCF187-B7D2-C071-A2EF-32C6D7C83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89" y="3429000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Neste circuito é apresentado um </a:t>
            </a:r>
            <a:r>
              <a:rPr lang="pt-PT" sz="1700" dirty="0" err="1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 2 para 4. As entradas A0 e A1 representam um valor binário, e quando o sinal ENABLE está ativo, apenas uma das quatro saídas (Y0 a Y3) é ativada de acordo com a combinação das entradas.</a:t>
            </a:r>
          </a:p>
          <a:p>
            <a:pPr marL="0" indent="0" algn="just">
              <a:buNone/>
            </a:pP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À esquerda, o </a:t>
            </a:r>
            <a:r>
              <a:rPr lang="pt-PT" sz="1700" dirty="0" err="1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 está ligado a indicadores de saída, permitindo visualizar diretamente qual linha foi ativada.</a:t>
            </a:r>
          </a:p>
          <a:p>
            <a:pPr marL="0" indent="0" algn="just">
              <a:buNone/>
            </a:pP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À direita, o mesmo </a:t>
            </a:r>
            <a:r>
              <a:rPr lang="pt-PT" sz="1700" dirty="0" err="1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  <a:r>
              <a:rPr lang="pt-PT" sz="1700" dirty="0">
                <a:latin typeface="Arial" panose="020B0604020202020204" pitchFamily="34" charset="0"/>
                <a:cs typeface="Arial" panose="020B0604020202020204" pitchFamily="34" charset="0"/>
              </a:rPr>
              <a:t> é usado em conjunto com um display de sete segmentos, onde as saídas controlam o acendimento do display, facilitando a visualização do valor decodificado.</a:t>
            </a:r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811FC8-8E7E-10EE-1BDA-C97C047FC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88" y="897471"/>
            <a:ext cx="6755073" cy="2380610"/>
          </a:xfrm>
          <a:prstGeom prst="rect">
            <a:avLst/>
          </a:prstGeom>
        </p:spPr>
      </p:pic>
      <p:pic>
        <p:nvPicPr>
          <p:cNvPr id="4098" name="Picture 2" descr="74LS138 Decoder Pinout, Features, Circuit &amp; Datasheet">
            <a:extLst>
              <a:ext uri="{FF2B5EF4-FFF2-40B4-BE49-F238E27FC236}">
                <a16:creationId xmlns:a16="http://schemas.microsoft.com/office/drawing/2014/main" id="{978E33D0-A0FE-D1B6-6D21-73D3C8A5D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835" y="897471"/>
            <a:ext cx="3402427" cy="238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08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Posição de Conteúdo 8">
            <a:extLst>
              <a:ext uri="{FF2B5EF4-FFF2-40B4-BE49-F238E27FC236}">
                <a16:creationId xmlns:a16="http://schemas.microsoft.com/office/drawing/2014/main" id="{8A6C1F5B-4A15-BDE4-5767-256DB313D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618518"/>
            <a:ext cx="5114451" cy="3541712"/>
          </a:xfr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037E3EB-C444-D511-0947-239AF0ADAEA4}"/>
              </a:ext>
            </a:extLst>
          </p:cNvPr>
          <p:cNvSpPr txBox="1"/>
          <p:nvPr/>
        </p:nvSpPr>
        <p:spPr>
          <a:xfrm>
            <a:off x="1141413" y="4314824"/>
            <a:ext cx="110505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Este circuito representa um meio somador (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Half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Adder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b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As entradas A e B são somadas, gerando a saída SOMA (S) e o CARRY OUT (Co).</a:t>
            </a:r>
          </a:p>
          <a:p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Quando 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carry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out = 1, ele é usado como sinal de controle para acionar um motor, indicando que a soma gerou transbordo.</a:t>
            </a:r>
          </a:p>
        </p:txBody>
      </p:sp>
      <p:pic>
        <p:nvPicPr>
          <p:cNvPr id="5122" name="Picture 2" descr="Half adder circuit ,theory and working. Truth table , schematic realization">
            <a:extLst>
              <a:ext uri="{FF2B5EF4-FFF2-40B4-BE49-F238E27FC236}">
                <a16:creationId xmlns:a16="http://schemas.microsoft.com/office/drawing/2014/main" id="{EE3FD486-4017-4119-AF4C-B3084A8CB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706" y="1366887"/>
            <a:ext cx="4894523" cy="204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92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BE0D065-C2EB-B7F2-5D5D-02A4FF5C4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525963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FULL HADDER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Este circuito mostra a ligação de um meio somador (HA) com um somador completo (FA).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meio somador realiza a soma inicial das entradas A e B, gerando a SOMA e o CARRY OUT. Esse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carry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é então conectado ao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carry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in do somador completo.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somador completo soma A, B e 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carry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in, produzindo uma nova SOMA e um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carry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out final.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B11520-5CDC-8C50-7035-75BA99EE7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52912"/>
            <a:ext cx="6964047" cy="3374570"/>
          </a:xfrm>
          <a:prstGeom prst="rect">
            <a:avLst/>
          </a:prstGeom>
        </p:spPr>
      </p:pic>
      <p:pic>
        <p:nvPicPr>
          <p:cNvPr id="1026" name="Picture 2" descr="How to Build a Half Adder Circuit">
            <a:extLst>
              <a:ext uri="{FF2B5EF4-FFF2-40B4-BE49-F238E27FC236}">
                <a16:creationId xmlns:a16="http://schemas.microsoft.com/office/drawing/2014/main" id="{13FB1267-631C-9A31-B9C1-7E6E0E9C8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972" y="2789968"/>
            <a:ext cx="1864213" cy="203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lf Adder : Circuit Diagram,Truth Table, Equation &amp; Applications">
            <a:extLst>
              <a:ext uri="{FF2B5EF4-FFF2-40B4-BE49-F238E27FC236}">
                <a16:creationId xmlns:a16="http://schemas.microsoft.com/office/drawing/2014/main" id="{A10DD79D-3887-8233-D19B-653649313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297" y="852912"/>
            <a:ext cx="3323562" cy="1769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060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69399C5-3FEE-882D-C587-5FBC74353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4545139"/>
            <a:ext cx="9905999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Este circuito utiliza um Universal Shift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SN74AS194.</a:t>
            </a:r>
          </a:p>
          <a:p>
            <a:pPr marL="0" indent="0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Ele permite carregamento paralelo, deslocamento à esquerda, deslocamento à direita ou manter o valor, conforme os sinais de modo (S1 e S0).</a:t>
            </a:r>
          </a:p>
          <a:p>
            <a:pPr marL="0" indent="0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Os dados entram pelas entradas paralelas e o deslocamento ocorre sincronizado pelo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As saídas mostram o conteúdo armazenado no registrador, demonstrando o uso em armazenamento e manipulação de dados binários.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137A7A-A36B-0036-0531-8B3AF591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447068"/>
            <a:ext cx="5268913" cy="4078164"/>
          </a:xfrm>
          <a:prstGeom prst="rect">
            <a:avLst/>
          </a:prstGeom>
        </p:spPr>
      </p:pic>
      <p:pic>
        <p:nvPicPr>
          <p:cNvPr id="7170" name="Picture 2" descr="High-Quality IC 74194 (4-bit universal shift register) for Industrial and  Commercial Applications">
            <a:extLst>
              <a:ext uri="{FF2B5EF4-FFF2-40B4-BE49-F238E27FC236}">
                <a16:creationId xmlns:a16="http://schemas.microsoft.com/office/drawing/2014/main" id="{648810C9-774B-FA2F-8C66-C0718D22D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961" y="821504"/>
            <a:ext cx="3679743" cy="332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495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3E394CC-99A1-164E-D076-901D81551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4849107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A imagem mostra um circuito digital com um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Ele possui entradas de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Enable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Clear 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que controlam a contagem. As saídas Q0 a Q3 exibem o valor binário contado, e a saída TC indica quando o limite da contagem é atingido.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CC78D0-D550-1D07-9C1F-36F06D810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85" y="509048"/>
            <a:ext cx="6618150" cy="422791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AC3B571-EB77-1925-B2BD-FB95B75C1AE0}"/>
              </a:ext>
            </a:extLst>
          </p:cNvPr>
          <p:cNvSpPr/>
          <p:nvPr/>
        </p:nvSpPr>
        <p:spPr>
          <a:xfrm>
            <a:off x="3659457" y="801278"/>
            <a:ext cx="2024905" cy="490194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UP/DOWN</a:t>
            </a:r>
            <a:endParaRPr lang="pt-P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CD4029 Binary-Decade Up-Down Counter - Datasheet Hub">
            <a:extLst>
              <a:ext uri="{FF2B5EF4-FFF2-40B4-BE49-F238E27FC236}">
                <a16:creationId xmlns:a16="http://schemas.microsoft.com/office/drawing/2014/main" id="{D866C3A8-46E1-0FE6-E83F-AB1D2E613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589" y="1425343"/>
            <a:ext cx="3298401" cy="23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265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AADB356-0B73-CDE0-1B98-FA335AA56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875926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A imagem mostra um circuito comparador digital. 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Duas entradas binárias (A e B) são comparadas por um comparador de magnitude, que indica se A &lt; B, A = B ou A &gt; B por meio das saídas correspondentes. Ideal para verificação e comparação de valores digitais.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FD0D32-1A3F-F794-7E21-E199EBB8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618518"/>
            <a:ext cx="4668838" cy="4233080"/>
          </a:xfrm>
          <a:prstGeom prst="rect">
            <a:avLst/>
          </a:prstGeom>
        </p:spPr>
      </p:pic>
      <p:pic>
        <p:nvPicPr>
          <p:cNvPr id="9218" name="Picture 2" descr="IC 74190 Datasheet, Working, Features, Application - Ovaga Technologies">
            <a:extLst>
              <a:ext uri="{FF2B5EF4-FFF2-40B4-BE49-F238E27FC236}">
                <a16:creationId xmlns:a16="http://schemas.microsoft.com/office/drawing/2014/main" id="{DDF1B0A0-954F-CCDB-F585-EF3AC1102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117" y="1254067"/>
            <a:ext cx="3752062" cy="296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2F161B0-29D3-ADCB-2B1E-B64CAB0379C2}"/>
              </a:ext>
            </a:extLst>
          </p:cNvPr>
          <p:cNvSpPr/>
          <p:nvPr/>
        </p:nvSpPr>
        <p:spPr>
          <a:xfrm>
            <a:off x="3817856" y="735291"/>
            <a:ext cx="1857081" cy="4524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COMPARADOR</a:t>
            </a:r>
          </a:p>
        </p:txBody>
      </p:sp>
    </p:spTree>
    <p:extLst>
      <p:ext uri="{BB962C8B-B14F-4D97-AF65-F5344CB8AC3E}">
        <p14:creationId xmlns:p14="http://schemas.microsoft.com/office/powerpoint/2010/main" val="2686203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FF32D71-129F-CC1D-F562-9B8CE8F25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1" y="795438"/>
            <a:ext cx="8184324" cy="337121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1B8B84-AF61-8490-08A0-B16312EB4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705" y="4565065"/>
            <a:ext cx="7941469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Contador Binário Assíncrono (4 Bits)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Função Principal: Conta de 0 a 15 (binário 0000 a 1111).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PT" altLang="pt-PT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Arquitetura: Composto por 4 Flip-Flops JK conectados em série (efeito "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Ripple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PT" altLang="pt-PT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Sincronismo: É assíncrono, pois o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um estágio depende da saída do anterior.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PT" altLang="pt-PT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Curso de Eletrônica - Eletrônica Digital - Os Contadores Digitais (CUR5009)">
            <a:extLst>
              <a:ext uri="{FF2B5EF4-FFF2-40B4-BE49-F238E27FC236}">
                <a16:creationId xmlns:a16="http://schemas.microsoft.com/office/drawing/2014/main" id="{2E7D85B1-F321-62EC-813F-7A387CCE4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000" y="1604905"/>
            <a:ext cx="3158133" cy="175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46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4FB3ED2-D8CC-8206-075D-06098F72F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4314268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Contador de Década (Módulo-10)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Objetivo: Conta de 0 a 9 em binário e reinicia automaticamente no próximo pulso.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Diferencial Técnico: Utiliza uma porta NAND (lógica de reinicialização) conectada às saídas.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Lógica de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Reset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: Quando o contador atinge o número 10 (binário 1010), a porta NAND envia um sinal ao Clear,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zerando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todos os flip-flops instantaneamente.</a:t>
            </a:r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A11A30-5CAA-6D4B-E9D1-E11C3C1C3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989593"/>
            <a:ext cx="6194291" cy="3108278"/>
          </a:xfrm>
          <a:prstGeom prst="rect">
            <a:avLst/>
          </a:prstGeom>
        </p:spPr>
      </p:pic>
      <p:pic>
        <p:nvPicPr>
          <p:cNvPr id="10242" name="Picture 2" descr="Contador de Década Com CI 7490 | PDF | Computação e Tecnologia da  Informação | Science">
            <a:extLst>
              <a:ext uri="{FF2B5EF4-FFF2-40B4-BE49-F238E27FC236}">
                <a16:creationId xmlns:a16="http://schemas.microsoft.com/office/drawing/2014/main" id="{4E11BE36-A1BC-4526-0E6F-4820E05AA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626" y="502418"/>
            <a:ext cx="2996760" cy="403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181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2A65AE8-8138-DF2D-2311-150BC7FAB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3979999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Circuito Lógico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Combinacional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Este não é um contador; é um circuito que decide uma saída com base nas entradas.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Função: Implementa uma função lógica específica usando as entradas A, B, C e D.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Componentes: Portas NOT (triângulos), AND (formato em D) e OR (pontiaguda).</a:t>
            </a:r>
          </a:p>
          <a:p>
            <a:pPr marL="0" indent="0" algn="just"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Resultado (S): A saída S só fica ativa ("1") se as condições definidas pelas conexões das portas forem atendidas.</a:t>
            </a:r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AA2E0B-4DA9-5BBE-391B-4206F1456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46" y="575646"/>
            <a:ext cx="7194242" cy="3234669"/>
          </a:xfrm>
          <a:prstGeom prst="rect">
            <a:avLst/>
          </a:prstGeom>
        </p:spPr>
      </p:pic>
      <p:pic>
        <p:nvPicPr>
          <p:cNvPr id="12290" name="Picture 2" descr="Curso de Eletrônica Digital – Combinando Funções Lógicas - (Lógica  Combinacional) (CUR5005)">
            <a:extLst>
              <a:ext uri="{FF2B5EF4-FFF2-40B4-BE49-F238E27FC236}">
                <a16:creationId xmlns:a16="http://schemas.microsoft.com/office/drawing/2014/main" id="{2A04FF7B-548A-B14C-A583-3F1FDAFA3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880" y="845532"/>
            <a:ext cx="3018950" cy="258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421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4532870-39B6-CD50-C5AC-F1A623FA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19" y="364903"/>
            <a:ext cx="7773362" cy="4498404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EF0DCF2-72CB-3438-AD61-680B38ADE3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41007" y="5101622"/>
            <a:ext cx="957159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Circuito lógico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combinacional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implementado na forma Soma de Produtos</a:t>
            </a:r>
            <a:endParaRPr kumimoji="0" lang="pt-PT" altLang="pt-PT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PT" altLang="pt-PT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Composto por quatro portas AND de múltiplas entradas que alimentam uma única porta 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Implementa uma expressão booleana do tipo Soma de Produtos (SOP).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Cada porta AND atua como um "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detector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de uma combinação binária específica das entradas.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saída S será verdadeira ("1") se pelo menos uma das quatro condições das portas AND for satisfeita.</a:t>
            </a:r>
          </a:p>
        </p:txBody>
      </p:sp>
    </p:spTree>
    <p:extLst>
      <p:ext uri="{BB962C8B-B14F-4D97-AF65-F5344CB8AC3E}">
        <p14:creationId xmlns:p14="http://schemas.microsoft.com/office/powerpoint/2010/main" val="3398630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BBA69-E106-9B5F-9630-F39FBFF72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388" y="1950430"/>
            <a:ext cx="9905998" cy="1478570"/>
          </a:xfrm>
        </p:spPr>
        <p:txBody>
          <a:bodyPr/>
          <a:lstStyle/>
          <a:p>
            <a:r>
              <a:rPr lang="pt-PT" dirty="0"/>
              <a:t>Exercícios feitos no </a:t>
            </a:r>
            <a:r>
              <a:rPr lang="pt-PT" dirty="0" err="1"/>
              <a:t>tinkercad</a:t>
            </a:r>
            <a:endParaRPr lang="pt-PT" dirty="0"/>
          </a:p>
        </p:txBody>
      </p:sp>
      <p:pic>
        <p:nvPicPr>
          <p:cNvPr id="6146" name="Picture 2" descr="Tinkercad – Apps on Google Play">
            <a:extLst>
              <a:ext uri="{FF2B5EF4-FFF2-40B4-BE49-F238E27FC236}">
                <a16:creationId xmlns:a16="http://schemas.microsoft.com/office/drawing/2014/main" id="{F82E09F3-C03F-EA90-47C7-5DB607F29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910" y="3429000"/>
            <a:ext cx="2962180" cy="252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723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EAE3AB22-73A6-C13D-EC89-CBAEFFF04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255" y="288481"/>
            <a:ext cx="7438871" cy="4075493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F06035A-4989-DE27-2797-745D5202DA3F}"/>
              </a:ext>
            </a:extLst>
          </p:cNvPr>
          <p:cNvSpPr txBox="1"/>
          <p:nvPr/>
        </p:nvSpPr>
        <p:spPr>
          <a:xfrm>
            <a:off x="1773009" y="6890919"/>
            <a:ext cx="11050587" cy="2210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FD425E4-7D65-ED13-A552-102A63F20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746" y="4507416"/>
            <a:ext cx="901189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Circuito digital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combinacional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montado em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protoboard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CIs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família 74HC: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74HC08 → portas AND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74HC04 → portas NOT (inversor)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74HC32 → portas OR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PT" altLang="pt-PT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PT" altLang="pt-PT" sz="16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entradas vêm de um DIP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(4 chaves), permitindo testar diferentes combinações lógicas.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alimentação é feita por uma fonte DC (≈5 V), comum aos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CIs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saídas acionam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LEDs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resistores, indicando visualmente o resultado lógico.</a:t>
            </a:r>
          </a:p>
        </p:txBody>
      </p:sp>
    </p:spTree>
    <p:extLst>
      <p:ext uri="{BB962C8B-B14F-4D97-AF65-F5344CB8AC3E}">
        <p14:creationId xmlns:p14="http://schemas.microsoft.com/office/powerpoint/2010/main" val="3992573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AD3275ED-C7F5-FD91-CD01-4CFE44EAE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495407"/>
            <a:ext cx="8514922" cy="4142395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08055CC-0553-6ED6-E366-29DE3E7C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4713217"/>
            <a:ext cx="851492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Circuito sequencial digital montado em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protoboard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 dois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CIs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74HC73, que são flip-flops JK.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entradas são controladas por um DIP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permitindo definir estados e comandos.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LEDs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resistores indicam visualmente o estado das saídas (Q e ¬Q).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Alimentação feita com 5 V, comum a todo o circuito.</a:t>
            </a:r>
          </a:p>
        </p:txBody>
      </p:sp>
    </p:spTree>
    <p:extLst>
      <p:ext uri="{BB962C8B-B14F-4D97-AF65-F5344CB8AC3E}">
        <p14:creationId xmlns:p14="http://schemas.microsoft.com/office/powerpoint/2010/main" val="3976937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6AE985F-ECD0-FAD7-CCBF-6349F0362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403" y="508988"/>
            <a:ext cx="8505194" cy="393896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529ED9F-E1FA-D88B-2691-D878ED155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223" y="4655347"/>
            <a:ext cx="698755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Circuito digital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combinacional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montado em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protoboard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 os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CIs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74HC08 (AND), 74HC04 (NOT) e 74HC32 (OR).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entradas são definidas por um DIP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(4 posições).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lógica interna combina portas AND, OR e inversores para gerar a saída.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LED com resistor indica visualmente o resultado lógico.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Alimentação de 5 V, comum a todos os componentes.</a:t>
            </a:r>
          </a:p>
        </p:txBody>
      </p:sp>
    </p:spTree>
    <p:extLst>
      <p:ext uri="{BB962C8B-B14F-4D97-AF65-F5344CB8AC3E}">
        <p14:creationId xmlns:p14="http://schemas.microsoft.com/office/powerpoint/2010/main" val="3350513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59752B15-34DB-8B85-A8E4-7BBB5D94F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1" y="477116"/>
            <a:ext cx="9223847" cy="404056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778E138-A54E-84BE-177B-6F29CAE04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199" y="4659086"/>
            <a:ext cx="736227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Circuito digital sequencial montado em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protoboard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 flip-flops JK 74HC73 e portas lógicas 74HC08 (AND) e 74HC02 (NOR).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entradas são controladas por uma chave e sinais lógicos internos.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LEDs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resistores indicam os estados das saídas e transições do circuito.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amperímetro mede o consumo de corrente do circuito (~</a:t>
            </a:r>
            <a:r>
              <a:rPr kumimoji="0" lang="pt-PT" altLang="pt-PT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</a:t>
            </a: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PT" altLang="pt-PT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Alimentação de 5 V.</a:t>
            </a:r>
          </a:p>
        </p:txBody>
      </p:sp>
    </p:spTree>
    <p:extLst>
      <p:ext uri="{BB962C8B-B14F-4D97-AF65-F5344CB8AC3E}">
        <p14:creationId xmlns:p14="http://schemas.microsoft.com/office/powerpoint/2010/main" val="3808144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71922-8A5B-0833-F40D-52ACFF7F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50430"/>
            <a:ext cx="9905998" cy="1478570"/>
          </a:xfrm>
        </p:spPr>
        <p:txBody>
          <a:bodyPr/>
          <a:lstStyle/>
          <a:p>
            <a:pPr algn="ctr"/>
            <a:r>
              <a:rPr lang="pt-PT" dirty="0"/>
              <a:t>FIM</a:t>
            </a:r>
            <a:br>
              <a:rPr lang="pt-PT" dirty="0"/>
            </a:br>
            <a:r>
              <a:rPr lang="pt-PT" dirty="0"/>
              <a:t>Obrigado pela atenção</a:t>
            </a:r>
          </a:p>
        </p:txBody>
      </p:sp>
    </p:spTree>
    <p:extLst>
      <p:ext uri="{BB962C8B-B14F-4D97-AF65-F5344CB8AC3E}">
        <p14:creationId xmlns:p14="http://schemas.microsoft.com/office/powerpoint/2010/main" val="9252841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{59AA6013-B3F4-41EC-9159-2E0E3940A0E4}TF6d5feb1e-e145-43f1-b745-cb4b54c5ee97e85a1937-870fee47d75a</Template>
  <TotalTime>809</TotalTime>
  <Words>1339</Words>
  <Application>Microsoft Office PowerPoint</Application>
  <PresentationFormat>Ecrã Panorâmico</PresentationFormat>
  <Paragraphs>87</Paragraphs>
  <Slides>23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23</vt:i4>
      </vt:variant>
    </vt:vector>
  </HeadingPairs>
  <TitlesOfParts>
    <vt:vector size="27" baseType="lpstr">
      <vt:lpstr>Arial</vt:lpstr>
      <vt:lpstr>Calibri</vt:lpstr>
      <vt:lpstr>Tw Cen MT</vt:lpstr>
      <vt:lpstr>Circuito</vt:lpstr>
      <vt:lpstr>uc652_7  Otimizar e implementar circuitos lógicos</vt:lpstr>
      <vt:lpstr>PRIMEIROS PASSOS COM PORTAS LÓGICAS NA APLICAÇÃO DEEDS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Exercícios feitos no tinkercad</vt:lpstr>
      <vt:lpstr>Apresentação do PowerPoint</vt:lpstr>
      <vt:lpstr>Apresentação do PowerPoint</vt:lpstr>
      <vt:lpstr>Apresentação do PowerPoint</vt:lpstr>
      <vt:lpstr>Apresentação do PowerPoint</vt:lpstr>
      <vt:lpstr>FIM Obrigado pela atenção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Carvalhinho</dc:creator>
  <cp:lastModifiedBy>Carvalhinho</cp:lastModifiedBy>
  <cp:revision>15</cp:revision>
  <dcterms:created xsi:type="dcterms:W3CDTF">2026-02-05T14:32:03Z</dcterms:created>
  <dcterms:modified xsi:type="dcterms:W3CDTF">2026-02-13T15:33:33Z</dcterms:modified>
</cp:coreProperties>
</file>