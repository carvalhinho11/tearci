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9" r:id="rId5"/>
    <p:sldId id="258" r:id="rId6"/>
    <p:sldId id="260" r:id="rId7"/>
    <p:sldId id="262" r:id="rId8"/>
  </p:sldIdLst>
  <p:sldSz cx="14630400" cy="8229600"/>
  <p:notesSz cx="8229600" cy="14630400"/>
  <p:embeddedFontLst>
    <p:embeddedFont>
      <p:font typeface="Roboto" panose="02000000000000000000" pitchFamily="2" charset="0"/>
      <p:regular r:id="rId10"/>
      <p:bold r:id="rId11"/>
    </p:embeddedFont>
    <p:embeddedFont>
      <p:font typeface="Roboto Medium" panose="02000000000000000000" pitchFamily="2" charset="0"/>
      <p:regular r:id="rId12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280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1A8CE6-6A71-577D-319F-09DD97681CBC}"/>
              </a:ext>
            </a:extLst>
          </p:cNvPr>
          <p:cNvSpPr txBox="1"/>
          <p:nvPr/>
        </p:nvSpPr>
        <p:spPr>
          <a:xfrm>
            <a:off x="3175522" y="698501"/>
            <a:ext cx="82793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Máquinas de Estados Finitas (MEF) (FSM - </a:t>
            </a:r>
            <a:r>
              <a:rPr lang="pt-PT" sz="4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Finite</a:t>
            </a:r>
            <a:r>
              <a:rPr lang="pt-PT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4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lang="pt-PT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4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lang="pt-PT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PT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F72B61-A71C-ECCB-18D7-C313D3F1AD25}"/>
              </a:ext>
            </a:extLst>
          </p:cNvPr>
          <p:cNvSpPr txBox="1"/>
          <p:nvPr/>
        </p:nvSpPr>
        <p:spPr>
          <a:xfrm>
            <a:off x="5302854" y="7106401"/>
            <a:ext cx="4024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Tomás Carvalho N16, T3 TEARCI</a:t>
            </a:r>
          </a:p>
        </p:txBody>
      </p:sp>
      <p:pic>
        <p:nvPicPr>
          <p:cNvPr id="1026" name="Picture 2" descr="Máquina de estado em software embarcado - Embarcados">
            <a:extLst>
              <a:ext uri="{FF2B5EF4-FFF2-40B4-BE49-F238E27FC236}">
                <a16:creationId xmlns:a16="http://schemas.microsoft.com/office/drawing/2014/main" id="{B47FFB94-BC42-77CB-3707-D786E617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2149770"/>
            <a:ext cx="8096250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D355947-77C9-124D-2D31-35C2AB3D7E0A}"/>
              </a:ext>
            </a:extLst>
          </p:cNvPr>
          <p:cNvSpPr/>
          <p:nvPr/>
        </p:nvSpPr>
        <p:spPr>
          <a:xfrm>
            <a:off x="12876904" y="7691718"/>
            <a:ext cx="1667435" cy="462578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0000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72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8970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Máquinas de Estados </a:t>
            </a:r>
            <a:r>
              <a:rPr lang="en-US" sz="445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Finitas</a:t>
            </a: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(MEF)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689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As Máquinas de Estados </a:t>
            </a:r>
            <a:r>
              <a:rPr lang="en-US" sz="1600" dirty="0" err="1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Finitas</a:t>
            </a: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(MEFs) são um conceito fundamental na ciência da computação e na engenharia, funcionando como modelos matemáticos para descrever sistemas que podem existir num número limitado de "estados". A sua simplicidade e poder tornam-nas ferramentas indispensáveis na conceção e análise de uma vasta gama de sistemas.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6075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Modelo Matemático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0846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Representa sistemas com um número finito de estados possíveis, fornecendo uma base lógica para o seu comportamento.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3160752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16075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Único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90846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 máquina reside sempre num único estado por vez, que reflete o histórico e o contexto atual do sistema.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481280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481280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738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Transições Precisas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622899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Mudanças de estado, ou "transições", ocorrem apenas quando condições específicas são satisfeitas, impulsionando a dinâmica do sistema.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5481280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481280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738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Versatilidade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622899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Amplamente utilizada no modelamento de programas, circuitos lógicos, protocolos de comunicação e muitos outros domínios tecnológicos.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6F6C651-EEFB-A886-ACBD-65B46D1E2542}"/>
              </a:ext>
            </a:extLst>
          </p:cNvPr>
          <p:cNvSpPr/>
          <p:nvPr/>
        </p:nvSpPr>
        <p:spPr>
          <a:xfrm>
            <a:off x="12855388" y="7756264"/>
            <a:ext cx="1688951" cy="398032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949" y="566499"/>
            <a:ext cx="5831443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Como Funciona </a:t>
            </a:r>
            <a:r>
              <a:rPr lang="en-US" sz="3750" dirty="0" err="1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uma</a:t>
            </a: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MEF? 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32949" y="1483519"/>
            <a:ext cx="13164383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Para entender as MEFs, um exemplo concreto é muito útil. Imagine um rádio de carro simples, que pode estar no estado "Estação de Rádio" ou "CD".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2949" y="3020139"/>
            <a:ext cx="2861786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Rádio do Carro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32949" y="3538299"/>
            <a:ext cx="4305062" cy="207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  <a:buSzPct val="100000"/>
            </a:pPr>
            <a:r>
              <a:rPr lang="en-US" sz="1600" b="1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Estados:</a:t>
            </a: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"Estação de Rádio" e "CD".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200"/>
              </a:lnSpc>
              <a:buSzPct val="100000"/>
            </a:pPr>
            <a:r>
              <a:rPr lang="en-US" sz="1600" b="1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Evento:</a:t>
            </a: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Premir o botão "próximo".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200"/>
              </a:lnSpc>
              <a:buSzPct val="100000"/>
            </a:pPr>
            <a:r>
              <a:rPr lang="en-US" sz="1600" b="1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Comportamento Contextual:</a:t>
            </a: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Se estiver em "Estação de Rádio", "próximo" muda para a próxima estação. Se estiver em "CD", muda para a próxima faixa. O mesmo comando tem efeitos diferentes dependendo do estado atual.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2949" y="5760958"/>
            <a:ext cx="4305062" cy="84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As ações podem ser associadas à entrada num estado (ex: "carregar CD") ou à saída de um estado (ex: "parar rádio").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667" y="2125385"/>
            <a:ext cx="8621365" cy="46509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01256" y="4127663"/>
            <a:ext cx="1772461" cy="23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Rádio do Carro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81092" y="4444668"/>
            <a:ext cx="2044514" cy="60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Dois estados trocados pelo botão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780224" y="4288518"/>
            <a:ext cx="1854902" cy="23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Botão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Próximo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685418" y="4604349"/>
            <a:ext cx="2044514" cy="170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Botão que alterna estados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78756" y="5474270"/>
            <a:ext cx="1854901" cy="23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CD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83949" y="5772085"/>
            <a:ext cx="2044514" cy="170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Toca disco inserido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09587" y="2712528"/>
            <a:ext cx="1854902" cy="231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 Medium" pitchFamily="34" charset="-122"/>
                <a:cs typeface="Arial" panose="020B0604020202020204" pitchFamily="34" charset="0"/>
              </a:rPr>
              <a:t>Rádio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14781" y="3010343"/>
            <a:ext cx="2044514" cy="170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Toca estações FM/AM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510927" y="6956822"/>
            <a:ext cx="8393906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Os diagramas de estados são representações visuais poderosas que ilustram as transições e as ações dentro de </a:t>
            </a:r>
            <a:r>
              <a:rPr lang="en-US" sz="1600" dirty="0" err="1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uma</a:t>
            </a:r>
            <a:r>
              <a:rPr lang="en-US" sz="16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MEF, facilitando a compreensão do seu fluxo lógico.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928FB28-8849-7D50-6504-AB91B09BDE6F}"/>
              </a:ext>
            </a:extLst>
          </p:cNvPr>
          <p:cNvSpPr/>
          <p:nvPr/>
        </p:nvSpPr>
        <p:spPr>
          <a:xfrm>
            <a:off x="12887661" y="7713233"/>
            <a:ext cx="1613647" cy="441063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00001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278" y="1600557"/>
            <a:ext cx="11171515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Importância e Aplicações das Máquinas de Estados Finitas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58278" y="2385179"/>
            <a:ext cx="11713845" cy="47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As MEFs são a espinha dorsal de muitos sistemas tecnológicos modernos. A sua capacidade de modelar comportamentos complexos de forma clara e estruturada torna-as inestimáveis em várias áreas.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78" y="3002875"/>
            <a:ext cx="1404699" cy="1404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90017" y="3002875"/>
            <a:ext cx="1277660" cy="5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Engenharia de Hardware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990017" y="3609380"/>
            <a:ext cx="1277660" cy="213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Fundamentais no design de circuitos digitais, sistemas embarcados e microcontroladores, controlando o fluxo de dados e operações.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387" y="3002875"/>
            <a:ext cx="1404699" cy="14046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8126" y="3002875"/>
            <a:ext cx="1277660" cy="5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Inteligência Artificial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958126" y="3609380"/>
            <a:ext cx="1277660" cy="1899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Utilizadas em modelos de comportamento de agentes, autómatos e em processamento de linguagem natural.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496" y="3002875"/>
            <a:ext cx="1404699" cy="14046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26235" y="3002875"/>
            <a:ext cx="1277660" cy="79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Redes e Comunicação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926235" y="3874532"/>
            <a:ext cx="1277660" cy="213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São a base para a definição de protocolos de comunicação, garantindo que as mensagens são enviadas e recebidas corretamente.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605" y="3002875"/>
            <a:ext cx="1404699" cy="14046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94344" y="3002875"/>
            <a:ext cx="1277779" cy="5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Jogos e Interfaces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1894344" y="3609380"/>
            <a:ext cx="1277779" cy="213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Essenciais para gerir o comportamento de personagens, o fluxo de jogo e as interações do utilizador em aplicações e jogos.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458278" y="6154103"/>
            <a:ext cx="11713845" cy="47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Além disso, as MEFs facilitam a organização do código, melhoram a legibilidade e simplificam a depuração, tornando-as uma ferramenta poderosa para desenvolvedores.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03E08AC-27AE-BD4B-BB7B-937283A38C64}"/>
              </a:ext>
            </a:extLst>
          </p:cNvPr>
          <p:cNvSpPr/>
          <p:nvPr/>
        </p:nvSpPr>
        <p:spPr>
          <a:xfrm>
            <a:off x="12887661" y="7617753"/>
            <a:ext cx="1635163" cy="484094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rgbClr val="000018"/>
                </a:solidFill>
              </a:ln>
              <a:solidFill>
                <a:srgbClr val="00001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5543" y="1720334"/>
            <a:ext cx="8421291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Máquina de Mealy: Saídas Dependentes da Transição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35543" y="2338626"/>
            <a:ext cx="9759315" cy="36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Dentro do universo das MEFs, existem diferentes tipos, sendo a Máquina de Mealy uma das mais importantes. A sua característica distintiva é que as saídas não dependem apenas do estado atual, mas também das entradas que causam a transição.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35543" y="2916793"/>
            <a:ext cx="2427922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Características Principais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435543" y="3270052"/>
            <a:ext cx="3191470" cy="3184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00"/>
              </a:lnSpc>
              <a:buSzPct val="100000"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Ao contrário das Máquinas de Moore (onde a saída depende apenas do estado), numa Máquina de Mealy, a saída é gerada durante a transição entre estados, influenciada tanto pelo estado atual quanto pela entrada que acionou a transição.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endParaRPr lang="en-US" sz="1400" b="1" dirty="0">
              <a:solidFill>
                <a:srgbClr val="CFD0D8"/>
              </a:solidFill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sz="1400" dirty="0" err="1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Isso</a:t>
            </a: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permite que as </a:t>
            </a:r>
            <a:r>
              <a:rPr lang="en-US" sz="1400" dirty="0" err="1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Máquinas</a:t>
            </a: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de Mealy respondam a eventos de entrada de forma mais imediata, com as saídas a mudarem no mesmo ciclo de relógio em que a entrada é aplicada.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endParaRPr lang="en-US" sz="1400" b="1" dirty="0">
              <a:solidFill>
                <a:srgbClr val="CFD0D8"/>
              </a:solidFill>
              <a:latin typeface="Arial" panose="020B0604020202020204" pitchFamily="34" charset="0"/>
              <a:ea typeface="Roboto" pitchFamily="34" charset="-122"/>
              <a:cs typeface="Arial" panose="020B0604020202020204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sz="1400" dirty="0" err="1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Frequentemente</a:t>
            </a: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, é possível implementar a mesma lógica com menos estados numa Máquina de Mealy em comparação com uma Máquina de Moore, devido à sua capacidade de produzir saídas durante as transições.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676" y="2904411"/>
            <a:ext cx="6222683" cy="30589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24595" y="3186839"/>
            <a:ext cx="1423068" cy="17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Saídas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024595" y="3415320"/>
            <a:ext cx="2877759" cy="11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Dependem da transição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2298" y="3257597"/>
            <a:ext cx="202392" cy="2023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24595" y="3901535"/>
            <a:ext cx="1423068" cy="17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B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24595" y="4130016"/>
            <a:ext cx="2877759" cy="11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Transições: 0/1, 1/0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2298" y="3877421"/>
            <a:ext cx="202392" cy="2023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24595" y="4616231"/>
            <a:ext cx="1423068" cy="17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Decisão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024595" y="4844712"/>
            <a:ext cx="2877759" cy="11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Entrada 0 ou 1?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2298" y="4490922"/>
            <a:ext cx="202392" cy="2023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30919" y="5330927"/>
            <a:ext cx="1423068" cy="17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A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030919" y="5559409"/>
            <a:ext cx="2877759" cy="115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Transições: 0/0, 1/1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2298" y="5205618"/>
            <a:ext cx="202392" cy="2023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79676" y="6062543"/>
            <a:ext cx="6222683" cy="36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Um exemplo clássico de Máquina de Mealy é um sistema de deteção de sequência, onde a saída é ativada apenas quando uma sequência específica de entradas é detetada.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57F58B2-40F7-1066-7689-5EF59B905CB8}"/>
              </a:ext>
            </a:extLst>
          </p:cNvPr>
          <p:cNvSpPr/>
          <p:nvPr/>
        </p:nvSpPr>
        <p:spPr>
          <a:xfrm>
            <a:off x="12887661" y="7616414"/>
            <a:ext cx="1635163" cy="484094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rgbClr val="000018"/>
                </a:solidFill>
              </a:ln>
              <a:solidFill>
                <a:srgbClr val="00001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1493" y="484823"/>
            <a:ext cx="6800493" cy="52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Poder e a Versatilidade das MEF's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71493" y="1267063"/>
            <a:ext cx="11687413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As Máquinas de Estados Finitas são mais do que um mero conceito teórico; são ferramentas práticas e poderosas que moldam o mundo tecnológico à nossa volta. Desde o funcionamento de um simples rádio até aos complexos sistemas de inteligência artificial, a sua lógica subjacente garante ordem e previsibilidade.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49573" y="2119432"/>
            <a:ext cx="4065865" cy="5625227"/>
          </a:xfrm>
          <a:prstGeom prst="roundRect">
            <a:avLst>
              <a:gd name="adj" fmla="val 2999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18880" y="3738086"/>
            <a:ext cx="259484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Síntese dos Benefícios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18880" y="4182070"/>
            <a:ext cx="3727252" cy="2026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50"/>
              </a:lnSpc>
              <a:buSzPct val="100000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Clareza e Estrutura: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Simplificam sistemas complexos em componentes geríveis.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850"/>
              </a:lnSpc>
              <a:buSzPct val="100000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Consistência: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Garantem um comportamento previsível face a diferentes entradas.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850"/>
              </a:lnSpc>
              <a:buSzPct val="100000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Eficiência: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Permitem a otimização de recursos em software e hardware.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850"/>
              </a:lnSpc>
              <a:buSzPct val="100000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Depuração Simplificada: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 Facilitam a identificação e correção de erros.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86" y="2261711"/>
            <a:ext cx="7452122" cy="41662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4286" y="6570226"/>
            <a:ext cx="745212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A capacidade de modelar o comportamento de um sistema de forma determinística e visualmente clara torna as MEFs um conhecimento essencial para qualquer profissional ou estudante na área de tecnologia.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4286" y="7394138"/>
            <a:ext cx="7452122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Arial" panose="020B0604020202020204" pitchFamily="34" charset="0"/>
                <a:ea typeface="Roboto" pitchFamily="34" charset="-122"/>
                <a:cs typeface="Arial" panose="020B0604020202020204" pitchFamily="34" charset="0"/>
              </a:rPr>
              <a:t>São a base para a criação de sistemas robustos, confiáveis e eficientes.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B4C31A-721D-533C-DA32-C23D7608E5E5}"/>
              </a:ext>
            </a:extLst>
          </p:cNvPr>
          <p:cNvSpPr/>
          <p:nvPr/>
        </p:nvSpPr>
        <p:spPr>
          <a:xfrm>
            <a:off x="12887661" y="7616414"/>
            <a:ext cx="1635163" cy="484094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rgbClr val="000018"/>
                </a:solidFill>
              </a:ln>
              <a:solidFill>
                <a:srgbClr val="00001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A17776B-DCE4-6BEC-8029-CC2652AD562B}"/>
              </a:ext>
            </a:extLst>
          </p:cNvPr>
          <p:cNvSpPr/>
          <p:nvPr/>
        </p:nvSpPr>
        <p:spPr>
          <a:xfrm>
            <a:off x="12887661" y="7616414"/>
            <a:ext cx="1635163" cy="484094"/>
          </a:xfrm>
          <a:prstGeom prst="rect">
            <a:avLst/>
          </a:prstGeom>
          <a:solidFill>
            <a:srgbClr val="000018"/>
          </a:solidFill>
          <a:ln>
            <a:solidFill>
              <a:srgbClr val="0000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rgbClr val="000018"/>
                </a:solidFill>
              </a:ln>
              <a:solidFill>
                <a:srgbClr val="000018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D51CA8-2EA3-7DE6-2588-27AA4AFEBF33}"/>
              </a:ext>
            </a:extLst>
          </p:cNvPr>
          <p:cNvSpPr txBox="1"/>
          <p:nvPr/>
        </p:nvSpPr>
        <p:spPr>
          <a:xfrm>
            <a:off x="677732" y="467647"/>
            <a:ext cx="10693101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Máquina de Moore na Vida Real: Semáforo Inteligente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aplicação clássica da Máquina de Moore é o funcionamento de um semáforo.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funciona?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muda de estado de acordo com o tempo, e a saída depende apenas do estado atual.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Estados do sistema</a:t>
            </a: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1:</a:t>
            </a:r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Luz Verde → carros podem avançar </a:t>
            </a: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2:</a:t>
            </a:r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Luz Amarela → atenção/preparar para parar </a:t>
            </a: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3:</a:t>
            </a:r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Luz Vermelha → carros devem parar 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 de Máquina de Moore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saída (cor da luz) depende apenas do estado atual do semáforo e não diretamente das entradas.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transição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Verde → após alguns segundos → Amarelo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Amarelo → após alguns segundos → Vermelho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Vermelho → após alguns segundos → Verde 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 isto é útil?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Organização do trânsito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Segurança rodoviária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Automação de sistemas urbanos </a:t>
            </a:r>
          </a:p>
          <a:p>
            <a:endParaRPr lang="pt-PT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Vantagens: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 de implementar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Comportamento previsível </a:t>
            </a:r>
          </a:p>
          <a:p>
            <a:r>
              <a:rPr lang="pt-PT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Fácil controlo e manutenção</a:t>
            </a:r>
          </a:p>
        </p:txBody>
      </p:sp>
      <p:sp>
        <p:nvSpPr>
          <p:cNvPr id="6" name="AutoShape 2" descr="Imagem criada: Diagrama de ciclos do semáforo">
            <a:extLst>
              <a:ext uri="{FF2B5EF4-FFF2-40B4-BE49-F238E27FC236}">
                <a16:creationId xmlns:a16="http://schemas.microsoft.com/office/drawing/2014/main" id="{06FFE09E-F73E-2488-EEF1-F8B8588D95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1077558" cy="107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27DD94-492A-56F4-2C5C-5E0DC122C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756" y="2845397"/>
            <a:ext cx="8657216" cy="577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9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1040</Words>
  <Application>Microsoft Office PowerPoint</Application>
  <PresentationFormat>Personalizar</PresentationFormat>
  <Paragraphs>100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Roboto Medium</vt:lpstr>
      <vt:lpstr>Roboto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Carvalhinho</cp:lastModifiedBy>
  <cp:revision>6</cp:revision>
  <dcterms:created xsi:type="dcterms:W3CDTF">2026-02-16T14:53:23Z</dcterms:created>
  <dcterms:modified xsi:type="dcterms:W3CDTF">2026-04-24T09:13:50Z</dcterms:modified>
</cp:coreProperties>
</file>